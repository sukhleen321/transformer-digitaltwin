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C445FBC5-0348-8B81-95ED-B28CF1DA292E}">
          <p14:sldIdLst>
            <p14:sldId id="256"/>
            <p14:sldId id="257"/>
          </p14:sldIdLst>
        </p14:section>
        <p14:section name="System" id="{CBAF983E-7516-8773-EBCD-F7DA782F66E3}">
          <p14:sldIdLst>
            <p14:sldId id="258"/>
            <p14:sldId id="260"/>
            <p14:sldId id="261"/>
            <p14:sldId id="262"/>
            <p14:sldId id="263"/>
            <p14:sldId id="264"/>
          </p14:sldIdLst>
        </p14:section>
        <p14:section name="Physics" id="{55AF0760-5A51-E2AF-BF32-73F0D951D18C}">
          <p14:sldIdLst>
            <p14:sldId id="265"/>
            <p14:sldId id="266"/>
            <p14:sldId id="267"/>
            <p14:sldId id="269"/>
          </p14:sldIdLst>
        </p14:section>
        <p14:section name="Status" id="{2C701668-120F-3845-965D-355FA691432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65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Transformer Digital Twin  |  PowerNext AI Hackathon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CCD"/>
                </a:solidFill>
              </a:rPr>
              <a:t>Transformer Digital Twin  |  PowerNext AI Hackathon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CCD"/>
                </a:solidFill>
              </a:rPr>
              <a:t>PowerNext AI Hackathon  |  Digital Twin Dashboard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554480"/>
            <a:ext cx="6126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56616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55448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Transformer Digital Twin</a:t>
            </a:r>
            <a:endParaRPr lang="en-US" sz="4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56616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</a:rPr>
              <a:t>A physics-informed monitoring and predictive-maintenance prototype for distribution transformer fleets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POWERNEXT AI HACKATHON</a:t>
            </a:r>
            <a:endParaRPr lang="en-US" sz="1300" dirty="0"/>
          </a:p>
        </p:txBody>
      </p:sp>
      <p:sp>
        <p:nvSpPr>
          <p:cNvPr id="6" name="Card 3"/>
          <p:cNvSpPr/>
          <p:nvPr/>
        </p:nvSpPr>
        <p:spPr>
          <a:xfrm>
            <a:off x="7040880" y="822960"/>
            <a:ext cx="4599432" cy="5212080"/>
          </a:xfrm>
          <a:prstGeom prst="roundRect">
            <a:avLst>
              <a:gd name="adj" fmla="val 198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315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CCD"/>
                </a:solidFill>
              </a:rPr>
              <a:t>Telemetry to dashboard (schematic)</a:t>
            </a:r>
            <a:endParaRPr lang="en-US" sz="1200" dirty="0"/>
          </a:p>
        </p:txBody>
      </p:sp>
      <p:sp>
        <p:nvSpPr>
          <p:cNvPr id="8" name="Core"/>
          <p:cNvSpPr/>
          <p:nvPr/>
        </p:nvSpPr>
        <p:spPr>
          <a:xfrm>
            <a:off x="8001000" y="1600200"/>
            <a:ext cx="3154680" cy="1645920"/>
          </a:xfrm>
          <a:prstGeom prst="rect">
            <a:avLst/>
          </a:prstGeom>
          <a:ln w="762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il primary"/>
          <p:cNvSpPr/>
          <p:nvPr/>
        </p:nvSpPr>
        <p:spPr>
          <a:xfrm>
            <a:off x="7818120" y="1691640"/>
            <a:ext cx="640080" cy="146304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Coil secondary"/>
          <p:cNvSpPr/>
          <p:nvPr/>
        </p:nvSpPr>
        <p:spPr>
          <a:xfrm>
            <a:off x="10698480" y="1691640"/>
            <a:ext cx="640080" cy="146304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Line 5"/>
          <p:cNvSpPr/>
          <p:nvPr/>
        </p:nvSpPr>
        <p:spPr>
          <a:xfrm>
            <a:off x="9573768" y="3337560"/>
            <a:ext cx="0" cy="4114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Card 6"/>
          <p:cNvSpPr/>
          <p:nvPr/>
        </p:nvSpPr>
        <p:spPr>
          <a:xfrm>
            <a:off x="7406640" y="3794760"/>
            <a:ext cx="4325112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park 0"/>
          <p:cNvSpPr/>
          <p:nvPr/>
        </p:nvSpPr>
        <p:spPr>
          <a:xfrm>
            <a:off x="7589520" y="4233672"/>
            <a:ext cx="146304" cy="320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park 1"/>
          <p:cNvSpPr/>
          <p:nvPr/>
        </p:nvSpPr>
        <p:spPr>
          <a:xfrm>
            <a:off x="7863840" y="4096512"/>
            <a:ext cx="14630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park 2"/>
          <p:cNvSpPr/>
          <p:nvPr/>
        </p:nvSpPr>
        <p:spPr>
          <a:xfrm>
            <a:off x="8138160" y="4169664"/>
            <a:ext cx="146304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park 3"/>
          <p:cNvSpPr/>
          <p:nvPr/>
        </p:nvSpPr>
        <p:spPr>
          <a:xfrm>
            <a:off x="8412480" y="4005072"/>
            <a:ext cx="146304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park 4"/>
          <p:cNvSpPr/>
          <p:nvPr/>
        </p:nvSpPr>
        <p:spPr>
          <a:xfrm>
            <a:off x="8686800" y="4050792"/>
            <a:ext cx="146304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park 5"/>
          <p:cNvSpPr/>
          <p:nvPr/>
        </p:nvSpPr>
        <p:spPr>
          <a:xfrm>
            <a:off x="8961120" y="3913632"/>
            <a:ext cx="146304" cy="6400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park 6"/>
          <p:cNvSpPr/>
          <p:nvPr/>
        </p:nvSpPr>
        <p:spPr>
          <a:xfrm>
            <a:off x="9235440" y="4096512"/>
            <a:ext cx="14630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park 7"/>
          <p:cNvSpPr/>
          <p:nvPr/>
        </p:nvSpPr>
        <p:spPr>
          <a:xfrm>
            <a:off x="9509760" y="3959352"/>
            <a:ext cx="146304" cy="5943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park 8"/>
          <p:cNvSpPr/>
          <p:nvPr/>
        </p:nvSpPr>
        <p:spPr>
          <a:xfrm>
            <a:off x="9784080" y="3822192"/>
            <a:ext cx="146304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park 9"/>
          <p:cNvSpPr/>
          <p:nvPr/>
        </p:nvSpPr>
        <p:spPr>
          <a:xfrm>
            <a:off x="10058400" y="4005072"/>
            <a:ext cx="146304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park 10"/>
          <p:cNvSpPr/>
          <p:nvPr/>
        </p:nvSpPr>
        <p:spPr>
          <a:xfrm>
            <a:off x="10332720" y="3895344"/>
            <a:ext cx="146304" cy="65836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park 11"/>
          <p:cNvSpPr/>
          <p:nvPr/>
        </p:nvSpPr>
        <p:spPr>
          <a:xfrm>
            <a:off x="10607040" y="4050792"/>
            <a:ext cx="146304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Asset 1"/>
          <p:cNvSpPr/>
          <p:nvPr/>
        </p:nvSpPr>
        <p:spPr>
          <a:xfrm>
            <a:off x="7571232" y="493776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Asset 2"/>
          <p:cNvSpPr/>
          <p:nvPr/>
        </p:nvSpPr>
        <p:spPr>
          <a:xfrm>
            <a:off x="7936992" y="493776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Asset 3"/>
          <p:cNvSpPr/>
          <p:nvPr/>
        </p:nvSpPr>
        <p:spPr>
          <a:xfrm>
            <a:off x="8302752" y="493776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Asset 4"/>
          <p:cNvSpPr/>
          <p:nvPr/>
        </p:nvSpPr>
        <p:spPr>
          <a:xfrm>
            <a:off x="8668512" y="493776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Asset 5"/>
          <p:cNvSpPr/>
          <p:nvPr/>
        </p:nvSpPr>
        <p:spPr>
          <a:xfrm>
            <a:off x="9034272" y="49377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Asset 6"/>
          <p:cNvSpPr/>
          <p:nvPr/>
        </p:nvSpPr>
        <p:spPr>
          <a:xfrm>
            <a:off x="9400032" y="49377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Asset 7"/>
          <p:cNvSpPr/>
          <p:nvPr/>
        </p:nvSpPr>
        <p:spPr>
          <a:xfrm>
            <a:off x="9765792" y="49377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Asset 8"/>
          <p:cNvSpPr/>
          <p:nvPr/>
        </p:nvSpPr>
        <p:spPr>
          <a:xfrm>
            <a:off x="10131552" y="493776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Asset 9"/>
          <p:cNvSpPr/>
          <p:nvPr/>
        </p:nvSpPr>
        <p:spPr>
          <a:xfrm>
            <a:off x="10497312" y="493776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Asset 10"/>
          <p:cNvSpPr/>
          <p:nvPr/>
        </p:nvSpPr>
        <p:spPr>
          <a:xfrm>
            <a:off x="10863072" y="493776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7"/>
          <p:cNvSpPr txBox="1"/>
          <p:nvPr/>
        </p:nvSpPr>
        <p:spPr>
          <a:xfrm>
            <a:off x="7406640" y="5349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 synthetic demo assets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Fixed-interval maintenance misses changing conditions</a:t>
            </a:r>
            <a:endParaRPr lang="en-US" sz="3000" dirty="0"/>
          </a:p>
        </p:txBody>
      </p:sp>
      <p:sp>
        <p:nvSpPr>
          <p:cNvPr id="3" name="Card 8"/>
          <p:cNvSpPr/>
          <p:nvPr/>
        </p:nvSpPr>
        <p:spPr>
          <a:xfrm>
            <a:off x="548640" y="1325880"/>
            <a:ext cx="52120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9"/>
          <p:cNvSpPr txBox="1"/>
          <p:nvPr/>
        </p:nvSpPr>
        <p:spPr>
          <a:xfrm>
            <a:off x="82296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Periodic inspection</a:t>
            </a:r>
            <a:endParaRPr lang="en-US" sz="2000" dirty="0"/>
          </a:p>
        </p:txBody>
      </p:sp>
      <p:sp>
        <p:nvSpPr>
          <p:cNvPr id="5" name="Text 10"/>
          <p:cNvSpPr txBox="1"/>
          <p:nvPr/>
        </p:nvSpPr>
        <p:spPr>
          <a:xfrm>
            <a:off x="822960" y="1965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Fixed intervals can miss shifting load and thermal conditions.</a:t>
            </a:r>
            <a:endParaRPr lang="en-US" sz="1400" dirty="0"/>
          </a:p>
        </p:txBody>
      </p:sp>
      <p:sp>
        <p:nvSpPr>
          <p:cNvPr id="7" name="Line 12"/>
          <p:cNvSpPr/>
          <p:nvPr/>
        </p:nvSpPr>
        <p:spPr>
          <a:xfrm>
            <a:off x="5852160" y="2212848"/>
            <a:ext cx="50292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Card 13"/>
          <p:cNvSpPr/>
          <p:nvPr/>
        </p:nvSpPr>
        <p:spPr>
          <a:xfrm>
            <a:off x="6428232" y="1325880"/>
            <a:ext cx="521208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14"/>
          <p:cNvSpPr txBox="1"/>
          <p:nvPr/>
        </p:nvSpPr>
        <p:spPr>
          <a:xfrm>
            <a:off x="6702552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Continuous data-informed monitoring</a:t>
            </a:r>
            <a:endParaRPr lang="en-US" sz="2000" dirty="0"/>
          </a:p>
        </p:txBody>
      </p:sp>
      <p:sp>
        <p:nvSpPr>
          <p:cNvPr id="10" name="Text 15"/>
          <p:cNvSpPr txBox="1"/>
          <p:nvPr/>
        </p:nvSpPr>
        <p:spPr>
          <a:xfrm>
            <a:off x="6702552" y="19659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Telemetry-driven view of electrical and thermal condition, with abnormal operation and maintenance guidance surfaced.</a:t>
            </a:r>
            <a:endParaRPr lang="en-US" sz="1400" dirty="0"/>
          </a:p>
        </p:txBody>
      </p:sp>
      <p:sp>
        <p:nvSpPr>
          <p:cNvPr id="11" name="Text 16"/>
          <p:cNvSpPr txBox="1"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2" name="Card 17"/>
          <p:cNvSpPr/>
          <p:nvPr/>
        </p:nvSpPr>
        <p:spPr>
          <a:xfrm>
            <a:off x="548640" y="379476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Num 18"/>
          <p:cNvSpPr txBox="1"/>
          <p:nvPr/>
        </p:nvSpPr>
        <p:spPr>
          <a:xfrm>
            <a:off x="731520" y="40370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9"/>
          <p:cNvSpPr txBox="1"/>
          <p:nvPr/>
        </p:nvSpPr>
        <p:spPr>
          <a:xfrm>
            <a:off x="1280160" y="38862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Simulate transformer behaviour</a:t>
            </a:r>
            <a:endParaRPr lang="en-US" sz="1400" dirty="0"/>
          </a:p>
        </p:txBody>
      </p:sp>
      <p:sp>
        <p:nvSpPr>
          <p:cNvPr id="15" name="Card 20"/>
          <p:cNvSpPr/>
          <p:nvPr/>
        </p:nvSpPr>
        <p:spPr>
          <a:xfrm>
            <a:off x="4311396" y="379476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Num 21"/>
          <p:cNvSpPr txBox="1"/>
          <p:nvPr/>
        </p:nvSpPr>
        <p:spPr>
          <a:xfrm>
            <a:off x="4494276" y="40370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22"/>
          <p:cNvSpPr txBox="1"/>
          <p:nvPr/>
        </p:nvSpPr>
        <p:spPr>
          <a:xfrm>
            <a:off x="5042916" y="38862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electrical and thermal signals</a:t>
            </a:r>
            <a:endParaRPr lang="en-US" sz="1400" dirty="0"/>
          </a:p>
        </p:txBody>
      </p:sp>
      <p:sp>
        <p:nvSpPr>
          <p:cNvPr id="18" name="Card 23"/>
          <p:cNvSpPr/>
          <p:nvPr/>
        </p:nvSpPr>
        <p:spPr>
          <a:xfrm>
            <a:off x="8074152" y="379476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Num 24"/>
          <p:cNvSpPr txBox="1"/>
          <p:nvPr/>
        </p:nvSpPr>
        <p:spPr>
          <a:xfrm>
            <a:off x="8257032" y="40370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25"/>
          <p:cNvSpPr txBox="1"/>
          <p:nvPr/>
        </p:nvSpPr>
        <p:spPr>
          <a:xfrm>
            <a:off x="8805672" y="38862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Assess condition</a:t>
            </a:r>
            <a:endParaRPr lang="en-US" sz="1400" dirty="0"/>
          </a:p>
        </p:txBody>
      </p:sp>
      <p:sp>
        <p:nvSpPr>
          <p:cNvPr id="21" name="Card 26"/>
          <p:cNvSpPr/>
          <p:nvPr/>
        </p:nvSpPr>
        <p:spPr>
          <a:xfrm>
            <a:off x="548640" y="480060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Num 27"/>
          <p:cNvSpPr txBox="1"/>
          <p:nvPr/>
        </p:nvSpPr>
        <p:spPr>
          <a:xfrm>
            <a:off x="731520" y="50429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8"/>
          <p:cNvSpPr txBox="1"/>
          <p:nvPr/>
        </p:nvSpPr>
        <p:spPr>
          <a:xfrm>
            <a:off x="1280160" y="4892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Identify abnormal operation</a:t>
            </a:r>
            <a:endParaRPr lang="en-US" sz="1400" dirty="0"/>
          </a:p>
        </p:txBody>
      </p:sp>
      <p:sp>
        <p:nvSpPr>
          <p:cNvPr id="24" name="Card 29"/>
          <p:cNvSpPr/>
          <p:nvPr/>
        </p:nvSpPr>
        <p:spPr>
          <a:xfrm>
            <a:off x="4311396" y="480060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Num 30"/>
          <p:cNvSpPr txBox="1"/>
          <p:nvPr/>
        </p:nvSpPr>
        <p:spPr>
          <a:xfrm>
            <a:off x="4494276" y="50429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31"/>
          <p:cNvSpPr txBox="1"/>
          <p:nvPr/>
        </p:nvSpPr>
        <p:spPr>
          <a:xfrm>
            <a:off x="5042916" y="4892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Surface maintenance guidance</a:t>
            </a:r>
            <a:endParaRPr lang="en-US" sz="1400" dirty="0"/>
          </a:p>
        </p:txBody>
      </p:sp>
      <p:sp>
        <p:nvSpPr>
          <p:cNvPr id="27" name="Card 32"/>
          <p:cNvSpPr/>
          <p:nvPr/>
        </p:nvSpPr>
        <p:spPr>
          <a:xfrm>
            <a:off x="8074152" y="4800600"/>
            <a:ext cx="35661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Num 33"/>
          <p:cNvSpPr txBox="1"/>
          <p:nvPr/>
        </p:nvSpPr>
        <p:spPr>
          <a:xfrm>
            <a:off x="8257032" y="50429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34"/>
          <p:cNvSpPr txBox="1"/>
          <p:nvPr/>
        </p:nvSpPr>
        <p:spPr>
          <a:xfrm>
            <a:off x="8805672" y="4892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visualization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One software twin, one fleet dashboard</a:t>
            </a:r>
            <a:endParaRPr lang="en-US" sz="3000" dirty="0"/>
          </a:p>
        </p:txBody>
      </p:sp>
      <p:sp>
        <p:nvSpPr>
          <p:cNvPr id="3" name="Node 36"/>
          <p:cNvSpPr txBox="1"/>
          <p:nvPr/>
        </p:nvSpPr>
        <p:spPr>
          <a:xfrm>
            <a:off x="548640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Fleet simulator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and historical CSV replay</a:t>
            </a:r>
            <a:endParaRPr lang="en-US" sz="1300" dirty="0"/>
          </a:p>
        </p:txBody>
      </p:sp>
      <p:sp>
        <p:nvSpPr>
          <p:cNvPr id="4" name="Node 37"/>
          <p:cNvSpPr txBox="1"/>
          <p:nvPr/>
        </p:nvSpPr>
        <p:spPr>
          <a:xfrm>
            <a:off x="2157984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Canonical schema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data adapter</a:t>
            </a:r>
            <a:endParaRPr lang="en-US" sz="1300" dirty="0"/>
          </a:p>
        </p:txBody>
      </p:sp>
      <p:sp>
        <p:nvSpPr>
          <p:cNvPr id="5" name="Node 38"/>
          <p:cNvSpPr txBox="1"/>
          <p:nvPr/>
        </p:nvSpPr>
        <p:spPr>
          <a:xfrm>
            <a:off x="3767328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Backend ingestion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and validation</a:t>
            </a:r>
            <a:endParaRPr lang="en-US" sz="1300" dirty="0"/>
          </a:p>
        </p:txBody>
      </p:sp>
      <p:sp>
        <p:nvSpPr>
          <p:cNvPr id="6" name="Node 39"/>
          <p:cNvSpPr txBox="1"/>
          <p:nvPr/>
        </p:nvSpPr>
        <p:spPr>
          <a:xfrm>
            <a:off x="5376672" y="1371600"/>
            <a:ext cx="1426464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Empirical ML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analytics</a:t>
            </a:r>
            <a:endParaRPr lang="en-US" sz="1300" dirty="0"/>
          </a:p>
        </p:txBody>
      </p:sp>
      <p:sp>
        <p:nvSpPr>
          <p:cNvPr id="7" name="Node 40"/>
          <p:cNvSpPr txBox="1"/>
          <p:nvPr/>
        </p:nvSpPr>
        <p:spPr>
          <a:xfrm>
            <a:off x="5376672" y="2286000"/>
            <a:ext cx="1426464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Physics estimator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kept separate</a:t>
            </a:r>
            <a:endParaRPr lang="en-US" sz="1300" dirty="0"/>
          </a:p>
        </p:txBody>
      </p:sp>
      <p:sp>
        <p:nvSpPr>
          <p:cNvPr id="8" name="Node 41"/>
          <p:cNvSpPr txBox="1"/>
          <p:nvPr/>
        </p:nvSpPr>
        <p:spPr>
          <a:xfrm>
            <a:off x="6986016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persistence</a:t>
            </a:r>
            <a:endParaRPr lang="en-US" sz="1300" dirty="0"/>
          </a:p>
        </p:txBody>
      </p:sp>
      <p:sp>
        <p:nvSpPr>
          <p:cNvPr id="9" name="Node 42"/>
          <p:cNvSpPr txBox="1"/>
          <p:nvPr/>
        </p:nvSpPr>
        <p:spPr>
          <a:xfrm>
            <a:off x="8595360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REST API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versioned reads</a:t>
            </a:r>
            <a:endParaRPr lang="en-US" sz="1300" dirty="0"/>
          </a:p>
        </p:txBody>
      </p:sp>
      <p:sp>
        <p:nvSpPr>
          <p:cNvPr id="10" name="Node 43"/>
          <p:cNvSpPr txBox="1"/>
          <p:nvPr/>
        </p:nvSpPr>
        <p:spPr>
          <a:xfrm>
            <a:off x="10204704" y="1371600"/>
            <a:ext cx="1426464" cy="1737360"/>
          </a:xfrm>
          <a:prstGeom prst="roundRect">
            <a:avLst>
              <a:gd name="adj" fmla="val 5128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 / TypeScript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1" name="Line 44"/>
          <p:cNvSpPr/>
          <p:nvPr/>
        </p:nvSpPr>
        <p:spPr>
          <a:xfrm>
            <a:off x="1975104" y="2240280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Line 45"/>
          <p:cNvSpPr/>
          <p:nvPr/>
        </p:nvSpPr>
        <p:spPr>
          <a:xfrm>
            <a:off x="3584448" y="2240280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Line 46"/>
          <p:cNvSpPr/>
          <p:nvPr/>
        </p:nvSpPr>
        <p:spPr>
          <a:xfrm>
            <a:off x="5193792" y="2240280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Line 47"/>
          <p:cNvSpPr/>
          <p:nvPr/>
        </p:nvSpPr>
        <p:spPr>
          <a:xfrm>
            <a:off x="6803136" y="2240280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Line 48"/>
          <p:cNvSpPr/>
          <p:nvPr/>
        </p:nvSpPr>
        <p:spPr>
          <a:xfrm>
            <a:off x="8412480" y="2240280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49"/>
          <p:cNvSpPr/>
          <p:nvPr/>
        </p:nvSpPr>
        <p:spPr>
          <a:xfrm>
            <a:off x="10021824" y="2240280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50"/>
          <p:cNvSpPr txBox="1"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The dashboard surfaces alerts, asset state, trends and maintenance context.</a:t>
            </a:r>
            <a:endParaRPr lang="en-US" sz="1500" dirty="0"/>
          </a:p>
        </p:txBody>
      </p:sp>
      <p:sp>
        <p:nvSpPr>
          <p:cNvPr id="18" name="Card 51"/>
          <p:cNvSpPr/>
          <p:nvPr/>
        </p:nvSpPr>
        <p:spPr>
          <a:xfrm>
            <a:off x="548640" y="3931920"/>
            <a:ext cx="2020824" cy="214884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Num 52"/>
          <p:cNvSpPr txBox="1"/>
          <p:nvPr/>
        </p:nvSpPr>
        <p:spPr>
          <a:xfrm>
            <a:off x="731520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0" name="Text 53"/>
          <p:cNvSpPr txBox="1"/>
          <p:nvPr/>
        </p:nvSpPr>
        <p:spPr>
          <a:xfrm>
            <a:off x="731520" y="4663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Shared schema</a:t>
            </a:r>
            <a:endParaRPr lang="en-US" sz="1600" dirty="0"/>
          </a:p>
        </p:txBody>
      </p:sp>
      <p:sp>
        <p:nvSpPr>
          <p:cNvPr id="21" name="Text 54"/>
          <p:cNvSpPr txBox="1"/>
          <p:nvPr/>
        </p:nvSpPr>
        <p:spPr>
          <a:xfrm>
            <a:off x="731520" y="5212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One canonical schema from source to dashboard</a:t>
            </a:r>
            <a:endParaRPr lang="en-US" sz="1300" dirty="0"/>
          </a:p>
        </p:txBody>
      </p:sp>
      <p:sp>
        <p:nvSpPr>
          <p:cNvPr id="22" name="Card 55"/>
          <p:cNvSpPr/>
          <p:nvPr/>
        </p:nvSpPr>
        <p:spPr>
          <a:xfrm>
            <a:off x="2816352" y="3931920"/>
            <a:ext cx="2020824" cy="214884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Num 56"/>
          <p:cNvSpPr txBox="1"/>
          <p:nvPr/>
        </p:nvSpPr>
        <p:spPr>
          <a:xfrm>
            <a:off x="2999232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57"/>
          <p:cNvSpPr txBox="1"/>
          <p:nvPr/>
        </p:nvSpPr>
        <p:spPr>
          <a:xfrm>
            <a:off x="2999232" y="4663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Bounded APIs</a:t>
            </a:r>
            <a:endParaRPr lang="en-US" sz="1600" dirty="0"/>
          </a:p>
        </p:txBody>
      </p:sp>
      <p:sp>
        <p:nvSpPr>
          <p:cNvPr id="25" name="Text 58"/>
          <p:cNvSpPr txBox="1"/>
          <p:nvPr/>
        </p:nvSpPr>
        <p:spPr>
          <a:xfrm>
            <a:off x="2999232" y="5212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Bounded snapshots and trends</a:t>
            </a:r>
            <a:endParaRPr lang="en-US" sz="1300" dirty="0"/>
          </a:p>
        </p:txBody>
      </p:sp>
      <p:sp>
        <p:nvSpPr>
          <p:cNvPr id="26" name="Card 59"/>
          <p:cNvSpPr/>
          <p:nvPr/>
        </p:nvSpPr>
        <p:spPr>
          <a:xfrm>
            <a:off x="5084064" y="3931920"/>
            <a:ext cx="2020824" cy="214884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Num 60"/>
          <p:cNvSpPr txBox="1"/>
          <p:nvPr/>
        </p:nvSpPr>
        <p:spPr>
          <a:xfrm>
            <a:off x="5266944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61"/>
          <p:cNvSpPr txBox="1"/>
          <p:nvPr/>
        </p:nvSpPr>
        <p:spPr>
          <a:xfrm>
            <a:off x="5266944" y="4663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Explicit data provenance</a:t>
            </a:r>
            <a:endParaRPr lang="en-US" sz="1600" dirty="0"/>
          </a:p>
        </p:txBody>
      </p:sp>
      <p:sp>
        <p:nvSpPr>
          <p:cNvPr id="29" name="Text 62"/>
          <p:cNvSpPr txBox="1"/>
          <p:nvPr/>
        </p:nvSpPr>
        <p:spPr>
          <a:xfrm>
            <a:off x="5266944" y="5212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Event identity and source are explicit</a:t>
            </a:r>
            <a:endParaRPr lang="en-US" sz="1300" dirty="0"/>
          </a:p>
        </p:txBody>
      </p:sp>
      <p:sp>
        <p:nvSpPr>
          <p:cNvPr id="30" name="Card 63"/>
          <p:cNvSpPr/>
          <p:nvPr/>
        </p:nvSpPr>
        <p:spPr>
          <a:xfrm>
            <a:off x="7351776" y="3931920"/>
            <a:ext cx="2020824" cy="214884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Num 64"/>
          <p:cNvSpPr txBox="1"/>
          <p:nvPr/>
        </p:nvSpPr>
        <p:spPr>
          <a:xfrm>
            <a:off x="7534656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65"/>
          <p:cNvSpPr txBox="1"/>
          <p:nvPr/>
        </p:nvSpPr>
        <p:spPr>
          <a:xfrm>
            <a:off x="7534656" y="4663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Per-asset state</a:t>
            </a:r>
            <a:endParaRPr lang="en-US" sz="1600" dirty="0"/>
          </a:p>
        </p:txBody>
      </p:sp>
      <p:sp>
        <p:nvSpPr>
          <p:cNvPr id="33" name="Text 66"/>
          <p:cNvSpPr txBox="1"/>
          <p:nvPr/>
        </p:nvSpPr>
        <p:spPr>
          <a:xfrm>
            <a:off x="7534656" y="5212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State and checkpoints per transformer</a:t>
            </a:r>
            <a:endParaRPr lang="en-US" sz="1300" dirty="0"/>
          </a:p>
        </p:txBody>
      </p:sp>
      <p:sp>
        <p:nvSpPr>
          <p:cNvPr id="34" name="Card 67"/>
          <p:cNvSpPr/>
          <p:nvPr/>
        </p:nvSpPr>
        <p:spPr>
          <a:xfrm>
            <a:off x="9619488" y="3931920"/>
            <a:ext cx="2020824" cy="214884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Num 68"/>
          <p:cNvSpPr txBox="1"/>
          <p:nvPr/>
        </p:nvSpPr>
        <p:spPr>
          <a:xfrm>
            <a:off x="9802368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69"/>
          <p:cNvSpPr txBox="1"/>
          <p:nvPr/>
        </p:nvSpPr>
        <p:spPr>
          <a:xfrm>
            <a:off x="9802368" y="4663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Deterministic scenarios</a:t>
            </a:r>
            <a:endParaRPr lang="en-US" sz="1600" dirty="0"/>
          </a:p>
        </p:txBody>
      </p:sp>
      <p:sp>
        <p:nvSpPr>
          <p:cNvPr id="37" name="Text 70"/>
          <p:cNvSpPr txBox="1"/>
          <p:nvPr/>
        </p:nvSpPr>
        <p:spPr>
          <a:xfrm>
            <a:off x="9802368" y="5212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Repeatable synthetic demonstrations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ingest and normalize</a:t>
            </a:r>
            <a:endParaRPr lang="en-US" sz="3000" dirty="0"/>
          </a:p>
        </p:txBody>
      </p:sp>
      <p:sp>
        <p:nvSpPr>
          <p:cNvPr id="3" name="Card 114"/>
          <p:cNvSpPr/>
          <p:nvPr/>
        </p:nvSpPr>
        <p:spPr>
          <a:xfrm>
            <a:off x="548640" y="128016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 115"/>
          <p:cNvSpPr txBox="1"/>
          <p:nvPr/>
        </p:nvSpPr>
        <p:spPr>
          <a:xfrm>
            <a:off x="777240" y="148132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116"/>
          <p:cNvSpPr txBox="1"/>
          <p:nvPr/>
        </p:nvSpPr>
        <p:spPr>
          <a:xfrm>
            <a:off x="132588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Thermal / environment</a:t>
            </a:r>
            <a:endParaRPr lang="en-US" sz="1800" dirty="0"/>
          </a:p>
        </p:txBody>
      </p:sp>
      <p:sp>
        <p:nvSpPr>
          <p:cNvPr id="6" name="Text 117"/>
          <p:cNvSpPr txBox="1"/>
          <p:nvPr/>
        </p:nvSpPr>
        <p:spPr>
          <a:xfrm>
            <a:off x="822960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Oil temperature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Ambient temperature</a:t>
            </a:r>
            <a:endParaRPr lang="en-US" sz="1400" dirty="0"/>
          </a:p>
        </p:txBody>
      </p:sp>
      <p:sp>
        <p:nvSpPr>
          <p:cNvPr id="7" name="Card 118"/>
          <p:cNvSpPr/>
          <p:nvPr/>
        </p:nvSpPr>
        <p:spPr>
          <a:xfrm>
            <a:off x="4311396" y="128016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Num 119"/>
          <p:cNvSpPr txBox="1"/>
          <p:nvPr/>
        </p:nvSpPr>
        <p:spPr>
          <a:xfrm>
            <a:off x="4539996" y="1481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120"/>
          <p:cNvSpPr txBox="1"/>
          <p:nvPr/>
        </p:nvSpPr>
        <p:spPr>
          <a:xfrm>
            <a:off x="5088636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Electrical</a:t>
            </a:r>
            <a:endParaRPr lang="en-US" sz="1800" dirty="0"/>
          </a:p>
        </p:txBody>
      </p:sp>
      <p:sp>
        <p:nvSpPr>
          <p:cNvPr id="10" name="Text 121"/>
          <p:cNvSpPr txBox="1"/>
          <p:nvPr/>
        </p:nvSpPr>
        <p:spPr>
          <a:xfrm>
            <a:off x="4585716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currents L1 / L2 / L3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Phase voltages in canonical telemetry; source VL12 / VL23 / VL31 excluded by the adapter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Active, reactive, apparent power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factor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Neutral current</a:t>
            </a:r>
            <a:endParaRPr lang="en-US" sz="1400" dirty="0"/>
          </a:p>
        </p:txBody>
      </p:sp>
      <p:sp>
        <p:nvSpPr>
          <p:cNvPr id="11" name="Card 122"/>
          <p:cNvSpPr/>
          <p:nvPr/>
        </p:nvSpPr>
        <p:spPr>
          <a:xfrm>
            <a:off x="8074152" y="1280160"/>
            <a:ext cx="356616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Num 123"/>
          <p:cNvSpPr txBox="1"/>
          <p:nvPr/>
        </p:nvSpPr>
        <p:spPr>
          <a:xfrm>
            <a:off x="8302752" y="148132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24"/>
          <p:cNvSpPr txBox="1"/>
          <p:nvPr/>
        </p:nvSpPr>
        <p:spPr>
          <a:xfrm>
            <a:off x="8851392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Condition / protection</a:t>
            </a:r>
            <a:endParaRPr lang="en-US" sz="1800" dirty="0"/>
          </a:p>
        </p:txBody>
      </p:sp>
      <p:sp>
        <p:nvSpPr>
          <p:cNvPr id="14" name="Text 125"/>
          <p:cNvSpPr txBox="1"/>
          <p:nvPr/>
        </p:nvSpPr>
        <p:spPr>
          <a:xfrm>
            <a:off x="8348472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Oil level / oil-leak indicator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Alarms / trips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Loading and asset configuration</a:t>
            </a:r>
            <a:endParaRPr lang="en-US" sz="1400" dirty="0"/>
          </a:p>
        </p:txBody>
      </p:sp>
      <p:sp>
        <p:nvSpPr>
          <p:cNvPr id="15" name="Card 126"/>
          <p:cNvSpPr/>
          <p:nvPr/>
        </p:nvSpPr>
        <p:spPr>
          <a:xfrm>
            <a:off x="548640" y="4297680"/>
            <a:ext cx="5394960" cy="1965960"/>
          </a:xfrm>
          <a:prstGeom prst="roundRect">
            <a:avLst>
              <a:gd name="adj" fmla="val 4651"/>
            </a:avLst>
          </a:prstGeom>
          <a:solidFill>
            <a:schemeClr val="accent2">
              <a:alpha val="2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Num 127"/>
          <p:cNvSpPr txBox="1"/>
          <p:nvPr/>
        </p:nvSpPr>
        <p:spPr>
          <a:xfrm>
            <a:off x="777240" y="45262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!</a:t>
            </a:r>
            <a:endParaRPr lang="en-US" sz="1400" dirty="0"/>
          </a:p>
        </p:txBody>
      </p:sp>
      <p:sp>
        <p:nvSpPr>
          <p:cNvPr id="17" name="Text 128"/>
          <p:cNvSpPr txBox="1"/>
          <p:nvPr/>
        </p:nvSpPr>
        <p:spPr>
          <a:xfrm>
            <a:off x="1325880" y="4526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Oil leak is never inferred from oil temperature alone</a:t>
            </a:r>
            <a:endParaRPr lang="en-US" sz="1800" dirty="0"/>
          </a:p>
        </p:txBody>
      </p:sp>
      <p:sp>
        <p:nvSpPr>
          <p:cNvPr id="18" name="Text 129"/>
          <p:cNvSpPr txBox="1"/>
          <p:nvPr/>
        </p:nvSpPr>
        <p:spPr>
          <a:xfrm>
            <a:off x="1325880" y="5257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An oil-level anomaly appears only when an oil-level sensor or scenario signal exists.</a:t>
            </a:r>
            <a:endParaRPr lang="en-US" sz="1500" dirty="0"/>
          </a:p>
        </p:txBody>
      </p:sp>
      <p:sp>
        <p:nvSpPr>
          <p:cNvPr id="19" name="Card 130"/>
          <p:cNvSpPr/>
          <p:nvPr/>
        </p:nvSpPr>
        <p:spPr>
          <a:xfrm>
            <a:off x="6126480" y="4297680"/>
            <a:ext cx="5513832" cy="1965960"/>
          </a:xfrm>
          <a:prstGeom prst="roundRect">
            <a:avLst>
              <a:gd name="adj" fmla="val 4651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1"/>
          <p:cNvSpPr txBox="1"/>
          <p:nvPr/>
        </p:nvSpPr>
        <p:spPr>
          <a:xfrm>
            <a:off x="6355080" y="4526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Adapter normalizes to a canonical schema</a:t>
            </a:r>
            <a:endParaRPr lang="en-US" sz="1800" dirty="0"/>
          </a:p>
        </p:txBody>
      </p:sp>
      <p:sp>
        <p:nvSpPr>
          <p:cNvPr id="21" name="Text 132"/>
          <p:cNvSpPr txBox="1"/>
          <p:nvPr/>
        </p:nvSpPr>
        <p:spPr>
          <a:xfrm>
            <a:off x="6355080" y="52578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Checks units, identity and timestamps. Missing values stay null, never zero.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simulator to dashboard: one traceable pipeline</a:t>
            </a:r>
            <a:endParaRPr lang="en-US" sz="3000" dirty="0"/>
          </a:p>
        </p:txBody>
      </p:sp>
      <p:sp>
        <p:nvSpPr>
          <p:cNvPr id="3" name="Node 133"/>
          <p:cNvSpPr txBox="1"/>
          <p:nvPr/>
        </p:nvSpPr>
        <p:spPr>
          <a:xfrm>
            <a:off x="548640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Historical CSV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synthetic generator</a:t>
            </a:r>
            <a:endParaRPr lang="en-US" sz="1300" dirty="0"/>
          </a:p>
        </p:txBody>
      </p:sp>
      <p:sp>
        <p:nvSpPr>
          <p:cNvPr id="4" name="Node 134"/>
          <p:cNvSpPr txBox="1"/>
          <p:nvPr/>
        </p:nvSpPr>
        <p:spPr>
          <a:xfrm>
            <a:off x="2441448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Canonical adapter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and scenario engine</a:t>
            </a:r>
            <a:endParaRPr lang="en-US" sz="1300" dirty="0"/>
          </a:p>
        </p:txBody>
      </p:sp>
      <p:sp>
        <p:nvSpPr>
          <p:cNvPr id="5" name="Node 135"/>
          <p:cNvSpPr txBox="1"/>
          <p:nvPr/>
        </p:nvSpPr>
        <p:spPr>
          <a:xfrm>
            <a:off x="4334256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Modbus register map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(FC04)</a:t>
            </a:r>
            <a:endParaRPr lang="en-US" sz="1300" dirty="0"/>
          </a:p>
        </p:txBody>
      </p:sp>
      <p:sp>
        <p:nvSpPr>
          <p:cNvPr id="6" name="Node 136"/>
          <p:cNvSpPr txBox="1"/>
          <p:nvPr/>
        </p:nvSpPr>
        <p:spPr>
          <a:xfrm>
            <a:off x="6227064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Modbus bridge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+ durable spool</a:t>
            </a:r>
            <a:endParaRPr lang="en-US" sz="1300" dirty="0"/>
          </a:p>
        </p:txBody>
      </p:sp>
      <p:sp>
        <p:nvSpPr>
          <p:cNvPr id="7" name="Node 137"/>
          <p:cNvSpPr txBox="1"/>
          <p:nvPr/>
        </p:nvSpPr>
        <p:spPr>
          <a:xfrm>
            <a:off x="8119872" y="128016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MQTT broker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QoS 1</a:t>
            </a:r>
            <a:endParaRPr lang="en-US" sz="1300" dirty="0"/>
          </a:p>
        </p:txBody>
      </p:sp>
      <p:sp>
        <p:nvSpPr>
          <p:cNvPr id="8" name="Node 138"/>
          <p:cNvSpPr txBox="1"/>
          <p:nvPr/>
        </p:nvSpPr>
        <p:spPr>
          <a:xfrm>
            <a:off x="8119872" y="251460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HTTP telemetry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batch / historical replay</a:t>
            </a:r>
            <a:endParaRPr lang="en-US" sz="1300" dirty="0"/>
          </a:p>
        </p:txBody>
      </p:sp>
      <p:sp>
        <p:nvSpPr>
          <p:cNvPr id="9" name="Node 139"/>
          <p:cNvSpPr txBox="1"/>
          <p:nvPr/>
        </p:nvSpPr>
        <p:spPr>
          <a:xfrm>
            <a:off x="10012680" y="1280160"/>
            <a:ext cx="1600200" cy="2148840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Shared FastAPI ingestion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HTTP, batch/replay and MQTT converge here</a:t>
            </a:r>
            <a:endParaRPr lang="en-US" sz="1300" dirty="0"/>
          </a:p>
        </p:txBody>
      </p:sp>
      <p:sp>
        <p:nvSpPr>
          <p:cNvPr id="10" name="Line 140"/>
          <p:cNvSpPr/>
          <p:nvPr/>
        </p:nvSpPr>
        <p:spPr>
          <a:xfrm>
            <a:off x="2148840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Line 141"/>
          <p:cNvSpPr/>
          <p:nvPr/>
        </p:nvSpPr>
        <p:spPr>
          <a:xfrm>
            <a:off x="4041648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Line 142"/>
          <p:cNvSpPr/>
          <p:nvPr/>
        </p:nvSpPr>
        <p:spPr>
          <a:xfrm>
            <a:off x="5934456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Line 143"/>
          <p:cNvSpPr/>
          <p:nvPr/>
        </p:nvSpPr>
        <p:spPr>
          <a:xfrm>
            <a:off x="7827264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Line 144"/>
          <p:cNvSpPr/>
          <p:nvPr/>
        </p:nvSpPr>
        <p:spPr>
          <a:xfrm>
            <a:off x="9720072" y="173736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Line 145"/>
          <p:cNvSpPr/>
          <p:nvPr/>
        </p:nvSpPr>
        <p:spPr>
          <a:xfrm>
            <a:off x="9720072" y="2971800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146"/>
          <p:cNvSpPr/>
          <p:nvPr/>
        </p:nvSpPr>
        <p:spPr>
          <a:xfrm>
            <a:off x="10812780" y="3429000"/>
            <a:ext cx="0" cy="3657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 147"/>
          <p:cNvSpPr txBox="1"/>
          <p:nvPr/>
        </p:nvSpPr>
        <p:spPr>
          <a:xfrm>
            <a:off x="10012680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Schema, units, identity,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timestamp, idempotency checks</a:t>
            </a:r>
            <a:endParaRPr lang="en-US" sz="1300" dirty="0"/>
          </a:p>
        </p:txBody>
      </p:sp>
      <p:sp>
        <p:nvSpPr>
          <p:cNvPr id="18" name="Node 148"/>
          <p:cNvSpPr txBox="1"/>
          <p:nvPr/>
        </p:nvSpPr>
        <p:spPr>
          <a:xfrm>
            <a:off x="8119872" y="3749040"/>
            <a:ext cx="16002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Empirical ML pipeline</a:t>
            </a:r>
            <a:endParaRPr lang="en-US" sz="1200" dirty="0"/>
          </a:p>
        </p:txBody>
      </p:sp>
      <p:sp>
        <p:nvSpPr>
          <p:cNvPr id="19" name="Node 149"/>
          <p:cNvSpPr txBox="1"/>
          <p:nvPr/>
        </p:nvSpPr>
        <p:spPr>
          <a:xfrm>
            <a:off x="8119872" y="4434840"/>
            <a:ext cx="160020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Opt-in physics demo</a:t>
            </a:r>
            <a:endParaRPr lang="en-US" sz="1200" dirty="0"/>
          </a:p>
        </p:txBody>
      </p:sp>
      <p:sp>
        <p:nvSpPr>
          <p:cNvPr id="20" name="Line 150"/>
          <p:cNvSpPr/>
          <p:nvPr/>
        </p:nvSpPr>
        <p:spPr>
          <a:xfrm flipH="1">
            <a:off x="9720072" y="4050792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Line 151"/>
          <p:cNvSpPr/>
          <p:nvPr/>
        </p:nvSpPr>
        <p:spPr>
          <a:xfrm flipH="1">
            <a:off x="9720072" y="472744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 152"/>
          <p:cNvSpPr txBox="1"/>
          <p:nvPr/>
        </p:nvSpPr>
        <p:spPr>
          <a:xfrm>
            <a:off x="6227064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raw telemetry, receipts, history</a:t>
            </a:r>
            <a:endParaRPr lang="en-US" sz="1300" dirty="0"/>
          </a:p>
        </p:txBody>
      </p:sp>
      <p:sp>
        <p:nvSpPr>
          <p:cNvPr id="23" name="Line 153"/>
          <p:cNvSpPr/>
          <p:nvPr/>
        </p:nvSpPr>
        <p:spPr>
          <a:xfrm flipH="1">
            <a:off x="7827264" y="4050792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Line 154"/>
          <p:cNvSpPr/>
          <p:nvPr/>
        </p:nvSpPr>
        <p:spPr>
          <a:xfrm flipH="1">
            <a:off x="7827264" y="472744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Line 155"/>
          <p:cNvSpPr/>
          <p:nvPr/>
        </p:nvSpPr>
        <p:spPr>
          <a:xfrm>
            <a:off x="10378440" y="484632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Line 156"/>
          <p:cNvSpPr/>
          <p:nvPr/>
        </p:nvSpPr>
        <p:spPr>
          <a:xfrm flipH="1">
            <a:off x="7027164" y="5166360"/>
            <a:ext cx="3351276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Line 157"/>
          <p:cNvSpPr/>
          <p:nvPr/>
        </p:nvSpPr>
        <p:spPr>
          <a:xfrm flipV="1">
            <a:off x="7027164" y="4846320"/>
            <a:ext cx="0" cy="3200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Line 158"/>
          <p:cNvSpPr/>
          <p:nvPr/>
        </p:nvSpPr>
        <p:spPr>
          <a:xfrm flipV="1">
            <a:off x="7027164" y="2194560"/>
            <a:ext cx="0" cy="16002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59"/>
          <p:cNvSpPr txBox="1"/>
          <p:nvPr/>
        </p:nvSpPr>
        <p:spPr>
          <a:xfrm>
            <a:off x="7123176" y="27432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chemeClr val="tx2"/>
                </a:solidFill>
              </a:rPr>
              <a:t>committed receipt ack</a:t>
            </a:r>
            <a:endParaRPr lang="en-US" sz="1050" dirty="0"/>
          </a:p>
        </p:txBody>
      </p:sp>
      <p:sp>
        <p:nvSpPr>
          <p:cNvPr id="30" name="Node 160"/>
          <p:cNvSpPr txBox="1"/>
          <p:nvPr/>
        </p:nvSpPr>
        <p:spPr>
          <a:xfrm>
            <a:off x="4334256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Versioned REST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read APIs</a:t>
            </a:r>
            <a:endParaRPr lang="en-US" sz="1300" dirty="0"/>
          </a:p>
        </p:txBody>
      </p:sp>
      <p:sp>
        <p:nvSpPr>
          <p:cNvPr id="31" name="Node 161"/>
          <p:cNvSpPr txBox="1"/>
          <p:nvPr/>
        </p:nvSpPr>
        <p:spPr>
          <a:xfrm>
            <a:off x="2441448" y="3794760"/>
            <a:ext cx="160020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 + TypeScript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2" name="Line 162"/>
          <p:cNvSpPr/>
          <p:nvPr/>
        </p:nvSpPr>
        <p:spPr>
          <a:xfrm flipH="1">
            <a:off x="5934456" y="431596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Line 163"/>
          <p:cNvSpPr/>
          <p:nvPr/>
        </p:nvSpPr>
        <p:spPr>
          <a:xfrm flipH="1">
            <a:off x="4041648" y="4315968"/>
            <a:ext cx="2926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Card 165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accent2">
              <a:alpha val="2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166"/>
          <p:cNvSpPr txBox="1"/>
          <p:nvPr/>
        </p:nvSpPr>
        <p:spPr>
          <a:xfrm>
            <a:off x="822960" y="553212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Reliability: </a:t>
            </a:r>
            <a:r>
              <a:rPr lang="en-US" sz="1500" dirty="0">
                <a:solidFill>
                  <a:schemeClr val="tx1"/>
                </a:solidFill>
              </a:rPr>
              <a:t>the bridge removes a spooled item only after checking the backend commit receipt. MQTT acknowledgement alone is not proof of a database commit.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Architecture: separated responsibilities</a:t>
            </a:r>
            <a:endParaRPr lang="en-US" sz="3000" dirty="0"/>
          </a:p>
        </p:txBody>
      </p:sp>
      <p:sp>
        <p:nvSpPr>
          <p:cNvPr id="3" name="Node 167"/>
          <p:cNvSpPr txBox="1"/>
          <p:nvPr/>
        </p:nvSpPr>
        <p:spPr>
          <a:xfrm>
            <a:off x="548640" y="128016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Python simulator</a:t>
            </a:r>
            <a:endParaRPr lang="en-US" sz="1300" dirty="0"/>
          </a:p>
        </p:txBody>
      </p:sp>
      <p:sp>
        <p:nvSpPr>
          <p:cNvPr id="4" name="Node 168"/>
          <p:cNvSpPr txBox="1"/>
          <p:nvPr/>
        </p:nvSpPr>
        <p:spPr>
          <a:xfrm>
            <a:off x="548640" y="224028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Historical CSV replay</a:t>
            </a:r>
            <a:endParaRPr lang="en-US" sz="1300" dirty="0"/>
          </a:p>
        </p:txBody>
      </p:sp>
      <p:sp>
        <p:nvSpPr>
          <p:cNvPr id="5" name="Node 169"/>
          <p:cNvSpPr txBox="1"/>
          <p:nvPr/>
        </p:nvSpPr>
        <p:spPr>
          <a:xfrm>
            <a:off x="548640" y="3200400"/>
            <a:ext cx="17373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9050">
            <a:solidFill>
              <a:schemeClr val="accent6"/>
            </a:solidFill>
            <a:prstDash val="dash"/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Future sensor / SCADA adapter</a:t>
            </a:r>
            <a:endParaRPr lang="en-US" sz="1200" dirty="0"/>
          </a:p>
        </p:txBody>
      </p:sp>
      <p:sp>
        <p:nvSpPr>
          <p:cNvPr id="6" name="Node 170"/>
          <p:cNvSpPr txBox="1"/>
          <p:nvPr/>
        </p:nvSpPr>
        <p:spPr>
          <a:xfrm>
            <a:off x="2468880" y="1280160"/>
            <a:ext cx="2011680" cy="27889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FastAPI backend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Telemetry and batch APIs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MQTT consumer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Canonical validation + idempotent ingestion</a:t>
            </a:r>
            <a:endParaRPr lang="en-US" sz="1500" dirty="0"/>
          </a:p>
        </p:txBody>
      </p:sp>
      <p:sp>
        <p:nvSpPr>
          <p:cNvPr id="7" name="Node 171"/>
          <p:cNvSpPr txBox="1"/>
          <p:nvPr/>
        </p:nvSpPr>
        <p:spPr>
          <a:xfrm>
            <a:off x="4663440" y="1280160"/>
            <a:ext cx="210312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Empirical analytics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Anomaly, health, maintenance</a:t>
            </a:r>
            <a:endParaRPr lang="en-US" sz="1400" dirty="0"/>
          </a:p>
        </p:txBody>
      </p:sp>
      <p:sp>
        <p:nvSpPr>
          <p:cNvPr id="8" name="Node 172"/>
          <p:cNvSpPr txBox="1"/>
          <p:nvPr/>
        </p:nvSpPr>
        <p:spPr>
          <a:xfrm>
            <a:off x="4663440" y="2743200"/>
            <a:ext cx="2103120" cy="1325880"/>
          </a:xfrm>
          <a:prstGeom prst="roundRect">
            <a:avLst>
              <a:gd name="adj" fmla="val 5517"/>
            </a:avLst>
          </a:prstGeom>
          <a:solidFill>
            <a:schemeClr val="accent3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Controlled synthetic physics demo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with 2-D sheet FEM reference</a:t>
            </a:r>
            <a:endParaRPr lang="en-US" sz="1300" dirty="0"/>
          </a:p>
        </p:txBody>
      </p:sp>
      <p:sp>
        <p:nvSpPr>
          <p:cNvPr id="9" name="Node 173"/>
          <p:cNvSpPr txBox="1"/>
          <p:nvPr/>
        </p:nvSpPr>
        <p:spPr>
          <a:xfrm>
            <a:off x="6949440" y="1280160"/>
            <a:ext cx="1280160" cy="278892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0" name="Node 174"/>
          <p:cNvSpPr txBox="1"/>
          <p:nvPr/>
        </p:nvSpPr>
        <p:spPr>
          <a:xfrm>
            <a:off x="8412480" y="1280160"/>
            <a:ext cx="1554480" cy="27889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Read APIs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latest, history, trends, alerts, maintenance, physics</a:t>
            </a:r>
            <a:endParaRPr lang="en-US" sz="1400" dirty="0"/>
          </a:p>
        </p:txBody>
      </p:sp>
      <p:sp>
        <p:nvSpPr>
          <p:cNvPr id="11" name="Node 175"/>
          <p:cNvSpPr txBox="1"/>
          <p:nvPr/>
        </p:nvSpPr>
        <p:spPr>
          <a:xfrm>
            <a:off x="10149840" y="1280160"/>
            <a:ext cx="1490472" cy="2788920"/>
          </a:xfrm>
          <a:prstGeom prst="roundRect">
            <a:avLst>
              <a:gd name="adj" fmla="val 4908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 / TS operations console</a:t>
            </a:r>
            <a:endParaRPr lang="en-US" sz="1400" dirty="0"/>
          </a:p>
        </p:txBody>
      </p:sp>
      <p:sp>
        <p:nvSpPr>
          <p:cNvPr id="12" name="Line 176"/>
          <p:cNvSpPr/>
          <p:nvPr/>
        </p:nvSpPr>
        <p:spPr>
          <a:xfrm>
            <a:off x="2286000" y="267004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Line 177"/>
          <p:cNvSpPr/>
          <p:nvPr/>
        </p:nvSpPr>
        <p:spPr>
          <a:xfrm>
            <a:off x="4480560" y="193852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Line 178"/>
          <p:cNvSpPr/>
          <p:nvPr/>
        </p:nvSpPr>
        <p:spPr>
          <a:xfrm>
            <a:off x="4480560" y="340156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Line 179"/>
          <p:cNvSpPr/>
          <p:nvPr/>
        </p:nvSpPr>
        <p:spPr>
          <a:xfrm>
            <a:off x="6766560" y="193852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180"/>
          <p:cNvSpPr/>
          <p:nvPr/>
        </p:nvSpPr>
        <p:spPr>
          <a:xfrm>
            <a:off x="6766560" y="340156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Line 181"/>
          <p:cNvSpPr/>
          <p:nvPr/>
        </p:nvSpPr>
        <p:spPr>
          <a:xfrm>
            <a:off x="8229600" y="267004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Line 182"/>
          <p:cNvSpPr/>
          <p:nvPr/>
        </p:nvSpPr>
        <p:spPr>
          <a:xfrm>
            <a:off x="9966960" y="2670048"/>
            <a:ext cx="1828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Pill 183"/>
          <p:cNvSpPr txBox="1"/>
          <p:nvPr/>
        </p:nvSpPr>
        <p:spPr>
          <a:xfrm>
            <a:off x="548640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React 19 + TypeScript + Vite</a:t>
            </a:r>
            <a:endParaRPr lang="en-US" sz="1200" dirty="0"/>
          </a:p>
        </p:txBody>
      </p:sp>
      <p:sp>
        <p:nvSpPr>
          <p:cNvPr id="20" name="Pill 184"/>
          <p:cNvSpPr txBox="1"/>
          <p:nvPr/>
        </p:nvSpPr>
        <p:spPr>
          <a:xfrm>
            <a:off x="2816352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 + Pydantic + SQLAlchemy</a:t>
            </a:r>
            <a:endParaRPr lang="en-US" sz="1200" dirty="0"/>
          </a:p>
        </p:txBody>
      </p:sp>
      <p:sp>
        <p:nvSpPr>
          <p:cNvPr id="21" name="Pill 185"/>
          <p:cNvSpPr txBox="1"/>
          <p:nvPr/>
        </p:nvSpPr>
        <p:spPr>
          <a:xfrm>
            <a:off x="5084064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NumPy / pandas / SciPy / scikit-learn</a:t>
            </a:r>
            <a:endParaRPr lang="en-US" sz="1200" dirty="0"/>
          </a:p>
        </p:txBody>
      </p:sp>
      <p:sp>
        <p:nvSpPr>
          <p:cNvPr id="22" name="Pill 186"/>
          <p:cNvSpPr txBox="1"/>
          <p:nvPr/>
        </p:nvSpPr>
        <p:spPr>
          <a:xfrm>
            <a:off x="7351776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pymodbus + Paho MQTT</a:t>
            </a:r>
            <a:endParaRPr lang="en-US" sz="1200" dirty="0"/>
          </a:p>
        </p:txBody>
      </p:sp>
      <p:sp>
        <p:nvSpPr>
          <p:cNvPr id="23" name="Pill 187"/>
          <p:cNvSpPr txBox="1"/>
          <p:nvPr/>
        </p:nvSpPr>
        <p:spPr>
          <a:xfrm>
            <a:off x="9619488" y="4389120"/>
            <a:ext cx="2020824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Mosquitto + Docker Compose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Stack</a:t>
            </a:r>
            <a:endParaRPr lang="en-US" sz="1100" dirty="0"/>
          </a:p>
        </p:txBody>
      </p:sp>
      <p:sp>
        <p:nvSpPr>
          <p:cNvPr id="25" name="Card 188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2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89"/>
          <p:cNvSpPr txBox="1"/>
          <p:nvPr/>
        </p:nvSpPr>
        <p:spPr>
          <a:xfrm>
            <a:off x="822960" y="539496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Empirical ML and physics estimates are distinct. </a:t>
            </a:r>
            <a:r>
              <a:rPr lang="en-US" sz="1400" dirty="0">
                <a:solidFill>
                  <a:schemeClr val="tx1"/>
                </a:solidFill>
              </a:rPr>
              <a:t>The physics demo is a physics-informed analytical branch, not an ML model; the production physics contract may return typed "unavailable" results unless eligibility and configuration are satisfied.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Backend processing protects data integrity</a:t>
            </a:r>
            <a:endParaRPr lang="en-US" sz="3000" dirty="0"/>
          </a:p>
        </p:txBody>
      </p:sp>
      <p:sp>
        <p:nvSpPr>
          <p:cNvPr id="3" name="Card 190"/>
          <p:cNvSpPr/>
          <p:nvPr/>
        </p:nvSpPr>
        <p:spPr>
          <a:xfrm>
            <a:off x="548640" y="128016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 191"/>
          <p:cNvSpPr txBox="1"/>
          <p:nvPr/>
        </p:nvSpPr>
        <p:spPr>
          <a:xfrm>
            <a:off x="731520" y="14447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192"/>
          <p:cNvSpPr txBox="1"/>
          <p:nvPr/>
        </p:nvSpPr>
        <p:spPr>
          <a:xfrm>
            <a:off x="73152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Receive event</a:t>
            </a:r>
            <a:endParaRPr lang="en-US" sz="1400" dirty="0"/>
          </a:p>
        </p:txBody>
      </p:sp>
      <p:sp>
        <p:nvSpPr>
          <p:cNvPr id="6" name="Card 193"/>
          <p:cNvSpPr/>
          <p:nvPr/>
        </p:nvSpPr>
        <p:spPr>
          <a:xfrm>
            <a:off x="2971800" y="128016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Num 194"/>
          <p:cNvSpPr txBox="1"/>
          <p:nvPr/>
        </p:nvSpPr>
        <p:spPr>
          <a:xfrm>
            <a:off x="3154680" y="14447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195"/>
          <p:cNvSpPr txBox="1"/>
          <p:nvPr/>
        </p:nvSpPr>
        <p:spPr>
          <a:xfrm>
            <a:off x="315468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canonical schema</a:t>
            </a:r>
            <a:endParaRPr lang="en-US" sz="1400" dirty="0"/>
          </a:p>
        </p:txBody>
      </p:sp>
      <p:sp>
        <p:nvSpPr>
          <p:cNvPr id="9" name="Card 196"/>
          <p:cNvSpPr/>
          <p:nvPr/>
        </p:nvSpPr>
        <p:spPr>
          <a:xfrm>
            <a:off x="5394960" y="128016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Num 197"/>
          <p:cNvSpPr txBox="1"/>
          <p:nvPr/>
        </p:nvSpPr>
        <p:spPr>
          <a:xfrm>
            <a:off x="5577840" y="14447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198"/>
          <p:cNvSpPr txBox="1"/>
          <p:nvPr/>
        </p:nvSpPr>
        <p:spPr>
          <a:xfrm>
            <a:off x="5577840" y="1920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asset, time, source and units</a:t>
            </a:r>
            <a:endParaRPr lang="en-US" sz="1400" dirty="0"/>
          </a:p>
        </p:txBody>
      </p:sp>
      <p:sp>
        <p:nvSpPr>
          <p:cNvPr id="12" name="Card 199"/>
          <p:cNvSpPr/>
          <p:nvPr/>
        </p:nvSpPr>
        <p:spPr>
          <a:xfrm>
            <a:off x="548640" y="283464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Num 200"/>
          <p:cNvSpPr txBox="1"/>
          <p:nvPr/>
        </p:nvSpPr>
        <p:spPr>
          <a:xfrm>
            <a:off x="731520" y="2999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201"/>
          <p:cNvSpPr txBox="1"/>
          <p:nvPr/>
        </p:nvSpPr>
        <p:spPr>
          <a:xfrm>
            <a:off x="731520" y="3474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Deduplicate / idempotency check</a:t>
            </a:r>
            <a:endParaRPr lang="en-US" sz="1400" dirty="0"/>
          </a:p>
        </p:txBody>
      </p:sp>
      <p:sp>
        <p:nvSpPr>
          <p:cNvPr id="15" name="Card 202"/>
          <p:cNvSpPr/>
          <p:nvPr/>
        </p:nvSpPr>
        <p:spPr>
          <a:xfrm>
            <a:off x="2971800" y="283464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Num 203"/>
          <p:cNvSpPr txBox="1"/>
          <p:nvPr/>
        </p:nvSpPr>
        <p:spPr>
          <a:xfrm>
            <a:off x="3154680" y="2999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204"/>
          <p:cNvSpPr txBox="1"/>
          <p:nvPr/>
        </p:nvSpPr>
        <p:spPr>
          <a:xfrm>
            <a:off x="3154680" y="3474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Per-asset serialization and transaction boundary</a:t>
            </a:r>
            <a:endParaRPr lang="en-US" sz="1400" dirty="0"/>
          </a:p>
        </p:txBody>
      </p:sp>
      <p:sp>
        <p:nvSpPr>
          <p:cNvPr id="18" name="Card 205"/>
          <p:cNvSpPr/>
          <p:nvPr/>
        </p:nvSpPr>
        <p:spPr>
          <a:xfrm>
            <a:off x="5394960" y="283464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Num 206"/>
          <p:cNvSpPr txBox="1"/>
          <p:nvPr/>
        </p:nvSpPr>
        <p:spPr>
          <a:xfrm>
            <a:off x="5577840" y="299923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207"/>
          <p:cNvSpPr txBox="1"/>
          <p:nvPr/>
        </p:nvSpPr>
        <p:spPr>
          <a:xfrm>
            <a:off x="5577840" y="3474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Persist raw telemetry and receipt</a:t>
            </a:r>
            <a:endParaRPr lang="en-US" sz="1400" dirty="0"/>
          </a:p>
        </p:txBody>
      </p:sp>
      <p:sp>
        <p:nvSpPr>
          <p:cNvPr id="21" name="Card 208"/>
          <p:cNvSpPr/>
          <p:nvPr/>
        </p:nvSpPr>
        <p:spPr>
          <a:xfrm>
            <a:off x="548640" y="438912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Num 209"/>
          <p:cNvSpPr txBox="1"/>
          <p:nvPr/>
        </p:nvSpPr>
        <p:spPr>
          <a:xfrm>
            <a:off x="731520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0"/>
          <p:cNvSpPr txBox="1"/>
          <p:nvPr/>
        </p:nvSpPr>
        <p:spPr>
          <a:xfrm>
            <a:off x="731520" y="5029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Call configured ML / eligible demo adapter</a:t>
            </a:r>
            <a:endParaRPr lang="en-US" sz="1400" dirty="0"/>
          </a:p>
        </p:txBody>
      </p:sp>
      <p:sp>
        <p:nvSpPr>
          <p:cNvPr id="24" name="Card 211"/>
          <p:cNvSpPr/>
          <p:nvPr/>
        </p:nvSpPr>
        <p:spPr>
          <a:xfrm>
            <a:off x="2971800" y="438912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Num 212"/>
          <p:cNvSpPr txBox="1"/>
          <p:nvPr/>
        </p:nvSpPr>
        <p:spPr>
          <a:xfrm>
            <a:off x="3154680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Text 213"/>
          <p:cNvSpPr txBox="1"/>
          <p:nvPr/>
        </p:nvSpPr>
        <p:spPr>
          <a:xfrm>
            <a:off x="3154680" y="5029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Persist versioned results and alert lifecycle</a:t>
            </a:r>
            <a:endParaRPr lang="en-US" sz="1400" dirty="0"/>
          </a:p>
        </p:txBody>
      </p:sp>
      <p:sp>
        <p:nvSpPr>
          <p:cNvPr id="27" name="Card 214"/>
          <p:cNvSpPr/>
          <p:nvPr/>
        </p:nvSpPr>
        <p:spPr>
          <a:xfrm>
            <a:off x="5394960" y="4389120"/>
            <a:ext cx="2240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Num 215"/>
          <p:cNvSpPr txBox="1"/>
          <p:nvPr/>
        </p:nvSpPr>
        <p:spPr>
          <a:xfrm>
            <a:off x="5577840" y="455371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16"/>
          <p:cNvSpPr txBox="1"/>
          <p:nvPr/>
        </p:nvSpPr>
        <p:spPr>
          <a:xfrm>
            <a:off x="5577840" y="5029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endpoints serve bounded snapshots and trends</a:t>
            </a:r>
            <a:endParaRPr lang="en-US" sz="1400" dirty="0"/>
          </a:p>
        </p:txBody>
      </p:sp>
      <p:sp>
        <p:nvSpPr>
          <p:cNvPr id="30" name="Card 217"/>
          <p:cNvSpPr/>
          <p:nvPr/>
        </p:nvSpPr>
        <p:spPr>
          <a:xfrm>
            <a:off x="8046720" y="1280160"/>
            <a:ext cx="3593592" cy="4389120"/>
          </a:xfrm>
          <a:prstGeom prst="roundRect">
            <a:avLst>
              <a:gd name="adj" fmla="val 254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18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Integrity guarantees</a:t>
            </a:r>
            <a:endParaRPr lang="en-US" sz="1800" dirty="0"/>
          </a:p>
        </p:txBody>
      </p:sp>
      <p:sp>
        <p:nvSpPr>
          <p:cNvPr id="32" name="Text 219"/>
          <p:cNvSpPr txBox="1"/>
          <p:nvPr/>
        </p:nvSpPr>
        <p:spPr>
          <a:xfrm>
            <a:off x="8321040" y="201168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Nullable inputs stay missing; event identity and provenance are explicit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Per-asset state and checkpoints prevent leakage across transformers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failed physics calculation withholds stale derived values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Versioned APIs separate event time from evaluation / update time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Analytics turn telemetry into explainable signals</a:t>
            </a:r>
            <a:endParaRPr lang="en-US" sz="3000" dirty="0"/>
          </a:p>
        </p:txBody>
      </p:sp>
      <p:sp>
        <p:nvSpPr>
          <p:cNvPr id="3" name="Dot 0"/>
          <p:cNvSpPr/>
          <p:nvPr/>
        </p:nvSpPr>
        <p:spPr>
          <a:xfrm>
            <a:off x="548640" y="135331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21"/>
          <p:cNvSpPr txBox="1"/>
          <p:nvPr/>
        </p:nvSpPr>
        <p:spPr>
          <a:xfrm>
            <a:off x="960120" y="1280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Loading percentage</a:t>
            </a:r>
            <a:endParaRPr lang="en-US" sz="1500" dirty="0"/>
          </a:p>
        </p:txBody>
      </p:sp>
      <p:sp>
        <p:nvSpPr>
          <p:cNvPr id="5" name="Text 222"/>
          <p:cNvSpPr txBox="1"/>
          <p:nvPr/>
        </p:nvSpPr>
        <p:spPr>
          <a:xfrm>
            <a:off x="96012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Apparent-power utilization</a:t>
            </a:r>
            <a:endParaRPr lang="en-US" sz="1300" dirty="0"/>
          </a:p>
        </p:txBody>
      </p:sp>
      <p:sp>
        <p:nvSpPr>
          <p:cNvPr id="6" name="Dot 1"/>
          <p:cNvSpPr/>
          <p:nvPr/>
        </p:nvSpPr>
        <p:spPr>
          <a:xfrm>
            <a:off x="548640" y="2011680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223"/>
          <p:cNvSpPr txBox="1"/>
          <p:nvPr/>
        </p:nvSpPr>
        <p:spPr>
          <a:xfrm>
            <a:off x="960120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Thermal model</a:t>
            </a:r>
            <a:endParaRPr lang="en-US" sz="1500" dirty="0"/>
          </a:p>
        </p:txBody>
      </p:sp>
      <p:sp>
        <p:nvSpPr>
          <p:cNvPr id="8" name="Text 224"/>
          <p:cNvSpPr txBox="1"/>
          <p:nvPr/>
        </p:nvSpPr>
        <p:spPr>
          <a:xfrm>
            <a:off x="960120" y="2212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Model temperature and residual</a:t>
            </a:r>
            <a:endParaRPr lang="en-US" sz="1300" dirty="0"/>
          </a:p>
        </p:txBody>
      </p:sp>
      <p:sp>
        <p:nvSpPr>
          <p:cNvPr id="9" name="Dot 2"/>
          <p:cNvSpPr/>
          <p:nvPr/>
        </p:nvSpPr>
        <p:spPr>
          <a:xfrm>
            <a:off x="548640" y="267004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225"/>
          <p:cNvSpPr txBox="1"/>
          <p:nvPr/>
        </p:nvSpPr>
        <p:spPr>
          <a:xfrm>
            <a:off x="960120" y="25968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Anomaly detection</a:t>
            </a:r>
            <a:endParaRPr lang="en-US" sz="1500" dirty="0"/>
          </a:p>
        </p:txBody>
      </p:sp>
      <p:sp>
        <p:nvSpPr>
          <p:cNvPr id="11" name="Text 226"/>
          <p:cNvSpPr txBox="1"/>
          <p:nvPr/>
        </p:nvSpPr>
        <p:spPr>
          <a:xfrm>
            <a:off x="960120" y="28712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Anomaly score and flag</a:t>
            </a:r>
            <a:endParaRPr lang="en-US" sz="1300" dirty="0"/>
          </a:p>
        </p:txBody>
      </p:sp>
      <p:sp>
        <p:nvSpPr>
          <p:cNvPr id="12" name="Dot 3"/>
          <p:cNvSpPr/>
          <p:nvPr/>
        </p:nvSpPr>
        <p:spPr>
          <a:xfrm>
            <a:off x="548640" y="3328416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227"/>
          <p:cNvSpPr txBox="1"/>
          <p:nvPr/>
        </p:nvSpPr>
        <p:spPr>
          <a:xfrm>
            <a:off x="960120" y="32552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 Index 0–100</a:t>
            </a:r>
            <a:endParaRPr lang="en-US" sz="1500" dirty="0"/>
          </a:p>
        </p:txBody>
      </p:sp>
      <p:sp>
        <p:nvSpPr>
          <p:cNvPr id="14" name="Text 228"/>
          <p:cNvSpPr txBox="1"/>
          <p:nvPr/>
        </p:nvSpPr>
        <p:spPr>
          <a:xfrm>
            <a:off x="960120" y="35295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Higher is healthier; component scores and reason codes</a:t>
            </a:r>
            <a:endParaRPr lang="en-US" sz="1300" dirty="0"/>
          </a:p>
        </p:txBody>
      </p:sp>
      <p:sp>
        <p:nvSpPr>
          <p:cNvPr id="15" name="Dot 4"/>
          <p:cNvSpPr/>
          <p:nvPr/>
        </p:nvSpPr>
        <p:spPr>
          <a:xfrm>
            <a:off x="548640" y="398678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229"/>
          <p:cNvSpPr txBox="1"/>
          <p:nvPr/>
        </p:nvSpPr>
        <p:spPr>
          <a:xfrm>
            <a:off x="960120" y="3913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Maintenance priority</a:t>
            </a:r>
            <a:endParaRPr lang="en-US" sz="1500" dirty="0"/>
          </a:p>
        </p:txBody>
      </p:sp>
      <p:sp>
        <p:nvSpPr>
          <p:cNvPr id="17" name="Text 230"/>
          <p:cNvSpPr txBox="1"/>
          <p:nvPr/>
        </p:nvSpPr>
        <p:spPr>
          <a:xfrm>
            <a:off x="960120" y="4187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NORMAL / WATCH / PLAN / URGENT with explanatory recommendation</a:t>
            </a:r>
            <a:endParaRPr lang="en-US" sz="1300" dirty="0"/>
          </a:p>
        </p:txBody>
      </p:sp>
      <p:sp>
        <p:nvSpPr>
          <p:cNvPr id="18" name="Dot 5"/>
          <p:cNvSpPr/>
          <p:nvPr/>
        </p:nvSpPr>
        <p:spPr>
          <a:xfrm>
            <a:off x="548640" y="464515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231"/>
          <p:cNvSpPr txBox="1"/>
          <p:nvPr/>
        </p:nvSpPr>
        <p:spPr>
          <a:xfrm>
            <a:off x="960120" y="4572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Protection indicators</a:t>
            </a:r>
            <a:endParaRPr lang="en-US" sz="1500" dirty="0"/>
          </a:p>
        </p:txBody>
      </p:sp>
      <p:sp>
        <p:nvSpPr>
          <p:cNvPr id="20" name="Text 232"/>
          <p:cNvSpPr txBox="1"/>
          <p:nvPr/>
        </p:nvSpPr>
        <p:spPr>
          <a:xfrm>
            <a:off x="96012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Oil-level deviation and alarm / trip indicators where inputs exist</a:t>
            </a:r>
            <a:endParaRPr lang="en-US" sz="1300" dirty="0"/>
          </a:p>
        </p:txBody>
      </p:sp>
      <p:sp>
        <p:nvSpPr>
          <p:cNvPr id="21" name="Node 233"/>
          <p:cNvSpPr txBox="1"/>
          <p:nvPr/>
        </p:nvSpPr>
        <p:spPr>
          <a:xfrm>
            <a:off x="6766560" y="128016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Injected abnormal telemetry</a:t>
            </a:r>
            <a:endParaRPr lang="en-US" sz="1500" dirty="0"/>
          </a:p>
        </p:txBody>
      </p:sp>
      <p:sp>
        <p:nvSpPr>
          <p:cNvPr id="22" name="Line 234"/>
          <p:cNvSpPr/>
          <p:nvPr/>
        </p:nvSpPr>
        <p:spPr>
          <a:xfrm>
            <a:off x="9203436" y="201168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Node 235"/>
          <p:cNvSpPr txBox="1"/>
          <p:nvPr/>
        </p:nvSpPr>
        <p:spPr>
          <a:xfrm>
            <a:off x="6766560" y="228600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Changed loading / thermal / electrical indicators</a:t>
            </a:r>
            <a:endParaRPr lang="en-US" sz="1500" dirty="0"/>
          </a:p>
        </p:txBody>
      </p:sp>
      <p:sp>
        <p:nvSpPr>
          <p:cNvPr id="24" name="Line 236"/>
          <p:cNvSpPr/>
          <p:nvPr/>
        </p:nvSpPr>
        <p:spPr>
          <a:xfrm>
            <a:off x="9203436" y="301752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Node 237"/>
          <p:cNvSpPr txBox="1"/>
          <p:nvPr/>
        </p:nvSpPr>
        <p:spPr>
          <a:xfrm>
            <a:off x="6766560" y="329184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Health / anomaly reason codes</a:t>
            </a:r>
            <a:endParaRPr lang="en-US" sz="1500" dirty="0"/>
          </a:p>
        </p:txBody>
      </p:sp>
      <p:sp>
        <p:nvSpPr>
          <p:cNvPr id="26" name="Line 238"/>
          <p:cNvSpPr/>
          <p:nvPr/>
        </p:nvSpPr>
        <p:spPr>
          <a:xfrm>
            <a:off x="9203436" y="4023360"/>
            <a:ext cx="0" cy="2743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Node 239"/>
          <p:cNvSpPr txBox="1"/>
          <p:nvPr/>
        </p:nvSpPr>
        <p:spPr>
          <a:xfrm>
            <a:off x="6766560" y="4297680"/>
            <a:ext cx="4873752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 / maintenance context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 two-node thermal model drives the digital twin</a:t>
            </a:r>
            <a:endParaRPr lang="en-US" sz="3000" dirty="0"/>
          </a:p>
        </p:txBody>
      </p:sp>
      <p:sp>
        <p:nvSpPr>
          <p:cNvPr id="3" name="Node Tw"/>
          <p:cNvSpPr txBox="1"/>
          <p:nvPr/>
        </p:nvSpPr>
        <p:spPr>
          <a:xfrm>
            <a:off x="822960" y="2423160"/>
            <a:ext cx="1188720" cy="11887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Tw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winding</a:t>
            </a:r>
            <a:endParaRPr lang="en-US" sz="1800" dirty="0"/>
          </a:p>
        </p:txBody>
      </p:sp>
      <p:sp>
        <p:nvSpPr>
          <p:cNvPr id="4" name="Node To"/>
          <p:cNvSpPr txBox="1"/>
          <p:nvPr/>
        </p:nvSpPr>
        <p:spPr>
          <a:xfrm>
            <a:off x="3291840" y="2423160"/>
            <a:ext cx="1188720" cy="118872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To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oil</a:t>
            </a:r>
            <a:endParaRPr lang="en-US" sz="1800" dirty="0"/>
          </a:p>
        </p:txBody>
      </p:sp>
      <p:sp>
        <p:nvSpPr>
          <p:cNvPr id="5" name="Node 243"/>
          <p:cNvSpPr txBox="1"/>
          <p:nvPr/>
        </p:nvSpPr>
        <p:spPr>
          <a:xfrm>
            <a:off x="5669280" y="2560320"/>
            <a:ext cx="10058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Ta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ambient</a:t>
            </a:r>
            <a:endParaRPr lang="en-US" sz="1800" dirty="0"/>
          </a:p>
        </p:txBody>
      </p:sp>
      <p:sp>
        <p:nvSpPr>
          <p:cNvPr id="6" name="Line 244"/>
          <p:cNvSpPr/>
          <p:nvPr/>
        </p:nvSpPr>
        <p:spPr>
          <a:xfrm>
            <a:off x="2011680" y="301752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Node 245"/>
          <p:cNvSpPr txBox="1"/>
          <p:nvPr/>
        </p:nvSpPr>
        <p:spPr>
          <a:xfrm>
            <a:off x="2377440" y="2880360"/>
            <a:ext cx="548640" cy="27432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Rw</a:t>
            </a:r>
            <a:endParaRPr lang="en-US" sz="1200" dirty="0"/>
          </a:p>
        </p:txBody>
      </p:sp>
      <p:sp>
        <p:nvSpPr>
          <p:cNvPr id="8" name="Line 246"/>
          <p:cNvSpPr/>
          <p:nvPr/>
        </p:nvSpPr>
        <p:spPr>
          <a:xfrm>
            <a:off x="2926080" y="301752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Line 247"/>
          <p:cNvSpPr/>
          <p:nvPr/>
        </p:nvSpPr>
        <p:spPr>
          <a:xfrm>
            <a:off x="4480560" y="3017520"/>
            <a:ext cx="2743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ode 248"/>
          <p:cNvSpPr txBox="1"/>
          <p:nvPr/>
        </p:nvSpPr>
        <p:spPr>
          <a:xfrm>
            <a:off x="4754880" y="2880360"/>
            <a:ext cx="548640" cy="274320"/>
          </a:xfrm>
          <a:prstGeom prst="roundRect">
            <a:avLst>
              <a:gd name="adj" fmla="val 26667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Ro</a:t>
            </a:r>
            <a:endParaRPr lang="en-US" sz="1200" dirty="0"/>
          </a:p>
        </p:txBody>
      </p:sp>
      <p:sp>
        <p:nvSpPr>
          <p:cNvPr id="11" name="Line 249"/>
          <p:cNvSpPr/>
          <p:nvPr/>
        </p:nvSpPr>
        <p:spPr>
          <a:xfrm>
            <a:off x="5303520" y="3017520"/>
            <a:ext cx="3657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250"/>
          <p:cNvSpPr txBox="1"/>
          <p:nvPr/>
        </p:nvSpPr>
        <p:spPr>
          <a:xfrm>
            <a:off x="123444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Pw</a:t>
            </a:r>
            <a:endParaRPr lang="en-US" sz="1600" dirty="0"/>
          </a:p>
        </p:txBody>
      </p:sp>
      <p:sp>
        <p:nvSpPr>
          <p:cNvPr id="13" name="Line 251"/>
          <p:cNvSpPr/>
          <p:nvPr/>
        </p:nvSpPr>
        <p:spPr>
          <a:xfrm>
            <a:off x="1417320" y="1737360"/>
            <a:ext cx="0" cy="68580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252"/>
          <p:cNvSpPr txBox="1"/>
          <p:nvPr/>
        </p:nvSpPr>
        <p:spPr>
          <a:xfrm>
            <a:off x="3703320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Po</a:t>
            </a:r>
            <a:endParaRPr lang="en-US" sz="1600" dirty="0"/>
          </a:p>
        </p:txBody>
      </p:sp>
      <p:sp>
        <p:nvSpPr>
          <p:cNvPr id="15" name="Line 253"/>
          <p:cNvSpPr/>
          <p:nvPr/>
        </p:nvSpPr>
        <p:spPr>
          <a:xfrm>
            <a:off x="3886200" y="1737360"/>
            <a:ext cx="0" cy="68580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254"/>
          <p:cNvSpPr/>
          <p:nvPr/>
        </p:nvSpPr>
        <p:spPr>
          <a:xfrm>
            <a:off x="1417320" y="36118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 255"/>
          <p:cNvSpPr txBox="1"/>
          <p:nvPr/>
        </p:nvSpPr>
        <p:spPr>
          <a:xfrm>
            <a:off x="1051560" y="4023360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Cw</a:t>
            </a:r>
            <a:endParaRPr lang="en-US" sz="1200" dirty="0"/>
          </a:p>
        </p:txBody>
      </p:sp>
      <p:sp>
        <p:nvSpPr>
          <p:cNvPr id="18" name="Line 256"/>
          <p:cNvSpPr/>
          <p:nvPr/>
        </p:nvSpPr>
        <p:spPr>
          <a:xfrm>
            <a:off x="1417320" y="4315968"/>
            <a:ext cx="0" cy="210312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Line 257"/>
          <p:cNvSpPr/>
          <p:nvPr/>
        </p:nvSpPr>
        <p:spPr>
          <a:xfrm>
            <a:off x="3886200" y="3611880"/>
            <a:ext cx="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 258"/>
          <p:cNvSpPr txBox="1"/>
          <p:nvPr/>
        </p:nvSpPr>
        <p:spPr>
          <a:xfrm>
            <a:off x="3520440" y="4023360"/>
            <a:ext cx="73152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</a:t>
            </a:r>
            <a:endParaRPr lang="en-US" sz="1200" dirty="0"/>
          </a:p>
        </p:txBody>
      </p:sp>
      <p:sp>
        <p:nvSpPr>
          <p:cNvPr id="21" name="Line 259"/>
          <p:cNvSpPr/>
          <p:nvPr/>
        </p:nvSpPr>
        <p:spPr>
          <a:xfrm>
            <a:off x="3886200" y="4315968"/>
            <a:ext cx="0" cy="210312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rd 261"/>
          <p:cNvSpPr/>
          <p:nvPr/>
        </p:nvSpPr>
        <p:spPr>
          <a:xfrm>
            <a:off x="7040880" y="1280160"/>
            <a:ext cx="4599432" cy="1783080"/>
          </a:xfrm>
          <a:prstGeom prst="roundRect">
            <a:avLst>
              <a:gd name="adj" fmla="val 512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62"/>
          <p:cNvSpPr txBox="1"/>
          <p:nvPr/>
        </p:nvSpPr>
        <p:spPr>
          <a:xfrm>
            <a:off x="726948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Governing equations</a:t>
            </a:r>
            <a:endParaRPr lang="en-US" sz="1400" dirty="0"/>
          </a:p>
        </p:txBody>
      </p:sp>
      <p:sp>
        <p:nvSpPr>
          <p:cNvPr id="25" name="Text 263"/>
          <p:cNvSpPr txBox="1"/>
          <p:nvPr/>
        </p:nvSpPr>
        <p:spPr>
          <a:xfrm>
            <a:off x="7269480" y="182880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Co·dTo/dt = Po + (Tw − To)/Rw − (To − Ta)/Ro</a:t>
            </a:r>
            <a:endParaRPr lang="en-US" sz="1200" dirty="0"/>
          </a:p>
        </p:txBody>
      </p:sp>
      <p:sp>
        <p:nvSpPr>
          <p:cNvPr id="26" name="Text 264"/>
          <p:cNvSpPr txBox="1"/>
          <p:nvPr/>
        </p:nvSpPr>
        <p:spPr>
          <a:xfrm>
            <a:off x="7269480" y="24231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Cw·dTw/dt = Pw − (Tw − To)/Rw</a:t>
            </a:r>
            <a:endParaRPr lang="en-US" sz="1200" dirty="0"/>
          </a:p>
        </p:txBody>
      </p:sp>
      <p:sp>
        <p:nvSpPr>
          <p:cNvPr id="27" name="Text 265"/>
          <p:cNvSpPr txBox="1"/>
          <p:nvPr/>
        </p:nvSpPr>
        <p:spPr>
          <a:xfrm>
            <a:off x="7040880" y="3291840"/>
            <a:ext cx="45994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To: simplified oil / top-oil-node estimate; Tw: winding node / hot-spot proxy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Controlled synthetic simulation only; not measured top-oil or maximum hot-spot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Units: T[°C] = T[K] − 273.15; ΔT[K] = ΔT[°C]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Exact exponential time advancement of the linear system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Physics indicators 1–6: thermal and loss formulas</a:t>
            </a:r>
            <a:endParaRPr lang="en-US" sz="3000" dirty="0"/>
          </a:p>
        </p:txBody>
      </p:sp>
      <p:sp>
        <p:nvSpPr>
          <p:cNvPr id="3" name="Card 268"/>
          <p:cNvSpPr/>
          <p:nvPr/>
        </p:nvSpPr>
        <p:spPr>
          <a:xfrm>
            <a:off x="548640" y="118872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69"/>
          <p:cNvSpPr txBox="1"/>
          <p:nvPr/>
        </p:nvSpPr>
        <p:spPr>
          <a:xfrm>
            <a:off x="73152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Simulated oil-sensor temp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[°C]</a:t>
            </a:r>
            <a:endParaRPr lang="en-US" sz="1400" dirty="0"/>
          </a:p>
        </p:txBody>
      </p:sp>
      <p:sp>
        <p:nvSpPr>
          <p:cNvPr id="5" name="Text 270"/>
          <p:cNvSpPr txBox="1"/>
          <p:nvPr/>
        </p:nvSpPr>
        <p:spPr>
          <a:xfrm>
            <a:off x="3383280" y="118872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Ts(t+Δt) = To(t) + [Ts(t) − To(t)]·e^(−Δt/τs)</a:t>
            </a:r>
            <a:endParaRPr lang="en-US" sz="1200" dirty="0"/>
          </a:p>
        </p:txBody>
      </p:sp>
      <p:sp>
        <p:nvSpPr>
          <p:cNvPr id="7" name="Text 272"/>
          <p:cNvSpPr txBox="1"/>
          <p:nvPr/>
        </p:nvSpPr>
        <p:spPr>
          <a:xfrm>
            <a:off x="8686800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Standalone τs = 5 s; full-stack uses a separate 1200 s lag, passed in as input.</a:t>
            </a:r>
            <a:endParaRPr lang="en-US" sz="1050" dirty="0"/>
          </a:p>
        </p:txBody>
      </p:sp>
      <p:sp>
        <p:nvSpPr>
          <p:cNvPr id="8" name="Card 273"/>
          <p:cNvSpPr/>
          <p:nvPr/>
        </p:nvSpPr>
        <p:spPr>
          <a:xfrm>
            <a:off x="548640" y="1956816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74"/>
          <p:cNvSpPr txBox="1"/>
          <p:nvPr/>
        </p:nvSpPr>
        <p:spPr>
          <a:xfrm>
            <a:off x="731520" y="195681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Top-oil temperature estimate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[°C]</a:t>
            </a:r>
            <a:endParaRPr lang="en-US" sz="1400" dirty="0"/>
          </a:p>
        </p:txBody>
      </p:sp>
      <p:sp>
        <p:nvSpPr>
          <p:cNvPr id="10" name="Text 275"/>
          <p:cNvSpPr txBox="1"/>
          <p:nvPr/>
        </p:nvSpPr>
        <p:spPr>
          <a:xfrm>
            <a:off x="3383280" y="1956816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T_oil,est = To − 273.15</a:t>
            </a:r>
            <a:endParaRPr lang="en-US" sz="1200" dirty="0"/>
          </a:p>
        </p:txBody>
      </p:sp>
      <p:sp>
        <p:nvSpPr>
          <p:cNvPr id="12" name="Text 277"/>
          <p:cNvSpPr txBox="1"/>
          <p:nvPr/>
        </p:nvSpPr>
        <p:spPr>
          <a:xfrm>
            <a:off x="8686800" y="2304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Oil-node / top-oil proxy from the simplified node model.</a:t>
            </a:r>
            <a:endParaRPr lang="en-US" sz="1050" dirty="0"/>
          </a:p>
        </p:txBody>
      </p:sp>
      <p:sp>
        <p:nvSpPr>
          <p:cNvPr id="13" name="Card 278"/>
          <p:cNvSpPr/>
          <p:nvPr/>
        </p:nvSpPr>
        <p:spPr>
          <a:xfrm>
            <a:off x="548640" y="2724912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279"/>
          <p:cNvSpPr txBox="1"/>
          <p:nvPr/>
        </p:nvSpPr>
        <p:spPr>
          <a:xfrm>
            <a:off x="731520" y="272491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Oil-node temperature rise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[K]</a:t>
            </a:r>
            <a:endParaRPr lang="en-US" sz="1400" dirty="0"/>
          </a:p>
        </p:txBody>
      </p:sp>
      <p:sp>
        <p:nvSpPr>
          <p:cNvPr id="15" name="Text 280"/>
          <p:cNvSpPr txBox="1"/>
          <p:nvPr/>
        </p:nvSpPr>
        <p:spPr>
          <a:xfrm>
            <a:off x="3383280" y="2724912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ΔTo = To − Ta</a:t>
            </a:r>
            <a:endParaRPr lang="en-US" sz="1200" dirty="0"/>
          </a:p>
        </p:txBody>
      </p:sp>
      <p:sp>
        <p:nvSpPr>
          <p:cNvPr id="17" name="Text 282"/>
          <p:cNvSpPr txBox="1"/>
          <p:nvPr/>
        </p:nvSpPr>
        <p:spPr>
          <a:xfrm>
            <a:off x="8686800" y="30723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Oil-node rise above the held ambient temperature.</a:t>
            </a:r>
            <a:endParaRPr lang="en-US" sz="1050" dirty="0"/>
          </a:p>
        </p:txBody>
      </p:sp>
      <p:sp>
        <p:nvSpPr>
          <p:cNvPr id="18" name="Card 283"/>
          <p:cNvSpPr/>
          <p:nvPr/>
        </p:nvSpPr>
        <p:spPr>
          <a:xfrm>
            <a:off x="548640" y="3493008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284"/>
          <p:cNvSpPr txBox="1"/>
          <p:nvPr/>
        </p:nvSpPr>
        <p:spPr>
          <a:xfrm>
            <a:off x="731520" y="349300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Winding hotspot estimate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[°C]</a:t>
            </a:r>
            <a:endParaRPr lang="en-US" sz="1400" dirty="0"/>
          </a:p>
        </p:txBody>
      </p:sp>
      <p:sp>
        <p:nvSpPr>
          <p:cNvPr id="20" name="Text 285"/>
          <p:cNvSpPr txBox="1"/>
          <p:nvPr/>
        </p:nvSpPr>
        <p:spPr>
          <a:xfrm>
            <a:off x="3383280" y="349300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T_winding,proxy = Tw − 273.15</a:t>
            </a:r>
            <a:endParaRPr lang="en-US" sz="1200" dirty="0"/>
          </a:p>
        </p:txBody>
      </p:sp>
      <p:sp>
        <p:nvSpPr>
          <p:cNvPr id="22" name="Text 287"/>
          <p:cNvSpPr txBox="1"/>
          <p:nvPr/>
        </p:nvSpPr>
        <p:spPr>
          <a:xfrm>
            <a:off x="8686800" y="3840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Winding-node proxy, not the true local maximum hot spot.</a:t>
            </a:r>
            <a:endParaRPr lang="en-US" sz="1050" dirty="0"/>
          </a:p>
        </p:txBody>
      </p:sp>
      <p:sp>
        <p:nvSpPr>
          <p:cNvPr id="23" name="Card 288"/>
          <p:cNvSpPr/>
          <p:nvPr/>
        </p:nvSpPr>
        <p:spPr>
          <a:xfrm>
            <a:off x="548640" y="4261104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89"/>
          <p:cNvSpPr txBox="1"/>
          <p:nvPr/>
        </p:nvSpPr>
        <p:spPr>
          <a:xfrm>
            <a:off x="731520" y="426110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Winding-to-oil gradient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[K]</a:t>
            </a:r>
            <a:endParaRPr lang="en-US" sz="1400" dirty="0"/>
          </a:p>
        </p:txBody>
      </p:sp>
      <p:sp>
        <p:nvSpPr>
          <p:cNvPr id="25" name="Text 290"/>
          <p:cNvSpPr txBox="1"/>
          <p:nvPr/>
        </p:nvSpPr>
        <p:spPr>
          <a:xfrm>
            <a:off x="3383280" y="4261104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ΔT_w−o = Tw − To</a:t>
            </a:r>
            <a:endParaRPr lang="en-US" sz="1200" dirty="0"/>
          </a:p>
        </p:txBody>
      </p:sp>
      <p:sp>
        <p:nvSpPr>
          <p:cNvPr id="27" name="Text 292"/>
          <p:cNvSpPr txBox="1"/>
          <p:nvPr/>
        </p:nvSpPr>
        <p:spPr>
          <a:xfrm>
            <a:off x="8686800" y="46085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Gradient between the winding-node proxy and the oil node.</a:t>
            </a:r>
            <a:endParaRPr lang="en-US" sz="1050" dirty="0"/>
          </a:p>
        </p:txBody>
      </p:sp>
      <p:sp>
        <p:nvSpPr>
          <p:cNvPr id="28" name="Card 293"/>
          <p:cNvSpPr/>
          <p:nvPr/>
        </p:nvSpPr>
        <p:spPr>
          <a:xfrm>
            <a:off x="548640" y="5029200"/>
            <a:ext cx="11091672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94"/>
          <p:cNvSpPr txBox="1"/>
          <p:nvPr/>
        </p:nvSpPr>
        <p:spPr>
          <a:xfrm>
            <a:off x="731520" y="5029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Total transformer loss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[W]</a:t>
            </a:r>
            <a:endParaRPr lang="en-US" sz="1400" dirty="0"/>
          </a:p>
        </p:txBody>
      </p:sp>
      <p:sp>
        <p:nvSpPr>
          <p:cNvPr id="30" name="Text 295"/>
          <p:cNvSpPr txBox="1"/>
          <p:nvPr/>
        </p:nvSpPr>
        <p:spPr>
          <a:xfrm>
            <a:off x="3383280" y="5029200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P_loss = P0 + P_load,rated · (1/3) Σ (Ii / I_rated)²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Physics indicators 7–10: aging and FEM formulas</a:t>
            </a:r>
            <a:endParaRPr lang="en-US" sz="3000" dirty="0"/>
          </a:p>
        </p:txBody>
      </p:sp>
      <p:sp>
        <p:nvSpPr>
          <p:cNvPr id="3" name="Card 299"/>
          <p:cNvSpPr/>
          <p:nvPr/>
        </p:nvSpPr>
        <p:spPr>
          <a:xfrm>
            <a:off x="548640" y="1188720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300"/>
          <p:cNvSpPr txBox="1"/>
          <p:nvPr/>
        </p:nvSpPr>
        <p:spPr>
          <a:xfrm>
            <a:off x="731520" y="1188720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Aging acceleration factor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[unitless]</a:t>
            </a:r>
            <a:endParaRPr lang="en-US" sz="1400" dirty="0"/>
          </a:p>
        </p:txBody>
      </p:sp>
      <p:sp>
        <p:nvSpPr>
          <p:cNvPr id="5" name="Text 301"/>
          <p:cNvSpPr txBox="1"/>
          <p:nvPr/>
        </p:nvSpPr>
        <p:spPr>
          <a:xfrm>
            <a:off x="3383280" y="1188720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F_age = exp((Tw − 310 K) / 20 K)</a:t>
            </a:r>
            <a:endParaRPr lang="en-US" sz="1300" dirty="0"/>
          </a:p>
        </p:txBody>
      </p:sp>
      <p:sp>
        <p:nvSpPr>
          <p:cNvPr id="7" name="Text 303"/>
          <p:cNvSpPr txBox="1"/>
          <p:nvPr/>
        </p:nvSpPr>
        <p:spPr>
          <a:xfrm>
            <a:off x="8686800" y="15361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The 310 K reference and 20 K scale are invented for the demo; not an IEEE/IEC ageing equation or insulation-life truth.</a:t>
            </a:r>
            <a:endParaRPr lang="en-US" sz="1100" dirty="0"/>
          </a:p>
        </p:txBody>
      </p:sp>
      <p:sp>
        <p:nvSpPr>
          <p:cNvPr id="8" name="Card 304"/>
          <p:cNvSpPr/>
          <p:nvPr/>
        </p:nvSpPr>
        <p:spPr>
          <a:xfrm>
            <a:off x="548640" y="2304288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05"/>
          <p:cNvSpPr txBox="1"/>
          <p:nvPr/>
        </p:nvSpPr>
        <p:spPr>
          <a:xfrm>
            <a:off x="731520" y="2304288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Equivalent aging hours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[h]</a:t>
            </a:r>
            <a:endParaRPr lang="en-US" sz="1400" dirty="0"/>
          </a:p>
        </p:txBody>
      </p:sp>
      <p:sp>
        <p:nvSpPr>
          <p:cNvPr id="10" name="Text 306"/>
          <p:cNvSpPr txBox="1"/>
          <p:nvPr/>
        </p:nvSpPr>
        <p:spPr>
          <a:xfrm>
            <a:off x="3383280" y="2304288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H_eq,new = H_eq,old + (F_prev + F_curr)/2 · Δt/3600</a:t>
            </a:r>
            <a:endParaRPr lang="en-US" sz="1300" dirty="0"/>
          </a:p>
        </p:txBody>
      </p:sp>
      <p:sp>
        <p:nvSpPr>
          <p:cNvPr id="12" name="Text 308"/>
          <p:cNvSpPr txBox="1"/>
          <p:nvPr/>
        </p:nvSpPr>
        <p:spPr>
          <a:xfrm>
            <a:off x="8686800" y="26517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Trapezoidal integration over contiguous synthetic history, Δt in seconds. H = 0 means no supported history; not Remaining Useful Life.</a:t>
            </a:r>
            <a:endParaRPr lang="en-US" sz="1100" dirty="0"/>
          </a:p>
        </p:txBody>
      </p:sp>
      <p:sp>
        <p:nvSpPr>
          <p:cNvPr id="13" name="Card 309"/>
          <p:cNvSpPr/>
          <p:nvPr/>
        </p:nvSpPr>
        <p:spPr>
          <a:xfrm>
            <a:off x="548640" y="3419856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310"/>
          <p:cNvSpPr txBox="1"/>
          <p:nvPr/>
        </p:nvSpPr>
        <p:spPr>
          <a:xfrm>
            <a:off x="731520" y="341985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FEM reference temperature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[°C or K]</a:t>
            </a:r>
            <a:endParaRPr lang="en-US" sz="1400" dirty="0"/>
          </a:p>
        </p:txBody>
      </p:sp>
      <p:sp>
        <p:nvSpPr>
          <p:cNvPr id="15" name="Text 311"/>
          <p:cNvSpPr txBox="1"/>
          <p:nvPr/>
        </p:nvSpPr>
        <p:spPr>
          <a:xfrm>
            <a:off x="3383280" y="3419856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T_FEM,mean = (1/A) ∫_A Tw(x,y) dA</a:t>
            </a:r>
            <a:endParaRPr lang="en-US" sz="1300" dirty="0"/>
          </a:p>
        </p:txBody>
      </p:sp>
      <p:sp>
        <p:nvSpPr>
          <p:cNvPr id="17" name="Text 313"/>
          <p:cNvSpPr txBox="1"/>
          <p:nvPr/>
        </p:nvSpPr>
        <p:spPr>
          <a:xfrm>
            <a:off x="8686800" y="37673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Area-average winding-sheet temperature of the 2-D two-sheet synthetic FEM; not the maximum point, not a measurement.</a:t>
            </a:r>
            <a:endParaRPr lang="en-US" sz="1100" dirty="0"/>
          </a:p>
        </p:txBody>
      </p:sp>
      <p:sp>
        <p:nvSpPr>
          <p:cNvPr id="18" name="Card 314"/>
          <p:cNvSpPr/>
          <p:nvPr/>
        </p:nvSpPr>
        <p:spPr>
          <a:xfrm>
            <a:off x="548640" y="4535424"/>
            <a:ext cx="11091672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315"/>
          <p:cNvSpPr txBox="1"/>
          <p:nvPr/>
        </p:nvSpPr>
        <p:spPr>
          <a:xfrm>
            <a:off x="731520" y="4535424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Estimator-vs-FEM difference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[K]</a:t>
            </a:r>
            <a:endParaRPr lang="en-US" sz="1400" dirty="0"/>
          </a:p>
        </p:txBody>
      </p:sp>
      <p:sp>
        <p:nvSpPr>
          <p:cNvPr id="20" name="Text 316"/>
          <p:cNvSpPr txBox="1"/>
          <p:nvPr/>
        </p:nvSpPr>
        <p:spPr>
          <a:xfrm>
            <a:off x="3383280" y="4535424"/>
            <a:ext cx="5074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ΔT_est−FEM = T_winding,proxy − T_FEM,mean</a:t>
            </a:r>
            <a:endParaRPr lang="en-US" sz="1300" dirty="0"/>
          </a:p>
        </p:txBody>
      </p:sp>
      <p:sp>
        <p:nvSpPr>
          <p:cNvPr id="22" name="Text 318"/>
          <p:cNvSpPr txBox="1"/>
          <p:nvPr/>
        </p:nvSpPr>
        <p:spPr>
          <a:xfrm>
            <a:off x="8686800" y="48828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Matched mean / proxy under the same forcing; near zero tests mean/energy consistency, not spatial hot-spot accuracy.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Demonstration: controlled fault scenarios</a:t>
            </a:r>
            <a:endParaRPr lang="en-US" sz="3000" dirty="0"/>
          </a:p>
        </p:txBody>
      </p:sp>
      <p:sp>
        <p:nvSpPr>
          <p:cNvPr id="3" name="Card 345"/>
          <p:cNvSpPr/>
          <p:nvPr/>
        </p:nvSpPr>
        <p:spPr>
          <a:xfrm>
            <a:off x="548640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Num 346"/>
          <p:cNvSpPr txBox="1"/>
          <p:nvPr/>
        </p:nvSpPr>
        <p:spPr>
          <a:xfrm>
            <a:off x="713232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47"/>
          <p:cNvSpPr txBox="1"/>
          <p:nvPr/>
        </p:nvSpPr>
        <p:spPr>
          <a:xfrm>
            <a:off x="713232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Healthy baseline</a:t>
            </a:r>
            <a:endParaRPr lang="en-US" sz="1500" dirty="0"/>
          </a:p>
        </p:txBody>
      </p:sp>
      <p:sp>
        <p:nvSpPr>
          <p:cNvPr id="6" name="Bar 0-0"/>
          <p:cNvSpPr/>
          <p:nvPr/>
        </p:nvSpPr>
        <p:spPr>
          <a:xfrm>
            <a:off x="731520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Bar 0-1"/>
          <p:cNvSpPr/>
          <p:nvPr/>
        </p:nvSpPr>
        <p:spPr>
          <a:xfrm>
            <a:off x="1005840" y="2657246"/>
            <a:ext cx="182880" cy="26883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Bar 0-2"/>
          <p:cNvSpPr/>
          <p:nvPr/>
        </p:nvSpPr>
        <p:spPr>
          <a:xfrm>
            <a:off x="1280160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Bar 0-3"/>
          <p:cNvSpPr/>
          <p:nvPr/>
        </p:nvSpPr>
        <p:spPr>
          <a:xfrm>
            <a:off x="1554480" y="2663647"/>
            <a:ext cx="182880" cy="262433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Bar 0-4"/>
          <p:cNvSpPr/>
          <p:nvPr/>
        </p:nvSpPr>
        <p:spPr>
          <a:xfrm>
            <a:off x="1828800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Bar 0-5"/>
          <p:cNvSpPr/>
          <p:nvPr/>
        </p:nvSpPr>
        <p:spPr>
          <a:xfrm>
            <a:off x="2103120" y="2657246"/>
            <a:ext cx="182880" cy="26883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348"/>
          <p:cNvSpPr txBox="1"/>
          <p:nvPr/>
        </p:nvSpPr>
        <p:spPr>
          <a:xfrm>
            <a:off x="713232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Reference behaviour</a:t>
            </a:r>
            <a:endParaRPr lang="en-US" sz="1200" dirty="0"/>
          </a:p>
        </p:txBody>
      </p:sp>
      <p:sp>
        <p:nvSpPr>
          <p:cNvPr id="13" name="Card 349"/>
          <p:cNvSpPr/>
          <p:nvPr/>
        </p:nvSpPr>
        <p:spPr>
          <a:xfrm>
            <a:off x="2816352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Num 350"/>
          <p:cNvSpPr txBox="1"/>
          <p:nvPr/>
        </p:nvSpPr>
        <p:spPr>
          <a:xfrm>
            <a:off x="2980944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351"/>
          <p:cNvSpPr txBox="1"/>
          <p:nvPr/>
        </p:nvSpPr>
        <p:spPr>
          <a:xfrm>
            <a:off x="2980944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Overload</a:t>
            </a:r>
            <a:endParaRPr lang="en-US" sz="1500" dirty="0"/>
          </a:p>
        </p:txBody>
      </p:sp>
      <p:sp>
        <p:nvSpPr>
          <p:cNvPr id="16" name="Bar 1-0"/>
          <p:cNvSpPr/>
          <p:nvPr/>
        </p:nvSpPr>
        <p:spPr>
          <a:xfrm>
            <a:off x="2999232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Bar 1-1"/>
          <p:cNvSpPr/>
          <p:nvPr/>
        </p:nvSpPr>
        <p:spPr>
          <a:xfrm>
            <a:off x="3273552" y="2670048"/>
            <a:ext cx="18288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Bar 1-2"/>
          <p:cNvSpPr/>
          <p:nvPr/>
        </p:nvSpPr>
        <p:spPr>
          <a:xfrm>
            <a:off x="3547872" y="2606040"/>
            <a:ext cx="182880" cy="320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Bar 1-3"/>
          <p:cNvSpPr/>
          <p:nvPr/>
        </p:nvSpPr>
        <p:spPr>
          <a:xfrm>
            <a:off x="3822192" y="2510028"/>
            <a:ext cx="182880" cy="41605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Bar 1-4"/>
          <p:cNvSpPr/>
          <p:nvPr/>
        </p:nvSpPr>
        <p:spPr>
          <a:xfrm>
            <a:off x="4096512" y="2414016"/>
            <a:ext cx="182880" cy="51206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Bar 1-5"/>
          <p:cNvSpPr/>
          <p:nvPr/>
        </p:nvSpPr>
        <p:spPr>
          <a:xfrm>
            <a:off x="4370832" y="2318004"/>
            <a:ext cx="182880" cy="60807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352"/>
          <p:cNvSpPr txBox="1"/>
          <p:nvPr/>
        </p:nvSpPr>
        <p:spPr>
          <a:xfrm>
            <a:off x="2980944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Loading rises; thermal indicators follow</a:t>
            </a:r>
            <a:endParaRPr lang="en-US" sz="1200" dirty="0"/>
          </a:p>
        </p:txBody>
      </p:sp>
      <p:sp>
        <p:nvSpPr>
          <p:cNvPr id="23" name="Card 353"/>
          <p:cNvSpPr/>
          <p:nvPr/>
        </p:nvSpPr>
        <p:spPr>
          <a:xfrm>
            <a:off x="5084064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Num 354"/>
          <p:cNvSpPr txBox="1"/>
          <p:nvPr/>
        </p:nvSpPr>
        <p:spPr>
          <a:xfrm>
            <a:off x="5248656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355"/>
          <p:cNvSpPr txBox="1"/>
          <p:nvPr/>
        </p:nvSpPr>
        <p:spPr>
          <a:xfrm>
            <a:off x="5248656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Thermal stress</a:t>
            </a:r>
            <a:endParaRPr lang="en-US" sz="1500" dirty="0"/>
          </a:p>
        </p:txBody>
      </p:sp>
      <p:sp>
        <p:nvSpPr>
          <p:cNvPr id="26" name="Bar 2-0"/>
          <p:cNvSpPr/>
          <p:nvPr/>
        </p:nvSpPr>
        <p:spPr>
          <a:xfrm>
            <a:off x="5266944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Bar 2-1"/>
          <p:cNvSpPr/>
          <p:nvPr/>
        </p:nvSpPr>
        <p:spPr>
          <a:xfrm>
            <a:off x="5541264" y="2721254"/>
            <a:ext cx="182880" cy="20482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Bar 2-2"/>
          <p:cNvSpPr/>
          <p:nvPr/>
        </p:nvSpPr>
        <p:spPr>
          <a:xfrm>
            <a:off x="5815584" y="2702052"/>
            <a:ext cx="182880" cy="2240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Bar 2-3"/>
          <p:cNvSpPr/>
          <p:nvPr/>
        </p:nvSpPr>
        <p:spPr>
          <a:xfrm>
            <a:off x="6089904" y="2542032"/>
            <a:ext cx="18288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Bar 2-4"/>
          <p:cNvSpPr/>
          <p:nvPr/>
        </p:nvSpPr>
        <p:spPr>
          <a:xfrm>
            <a:off x="6364224" y="2382012"/>
            <a:ext cx="182880" cy="54406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Bar 2-5"/>
          <p:cNvSpPr/>
          <p:nvPr/>
        </p:nvSpPr>
        <p:spPr>
          <a:xfrm>
            <a:off x="6638544" y="2286000"/>
            <a:ext cx="182880" cy="6400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56"/>
          <p:cNvSpPr txBox="1"/>
          <p:nvPr/>
        </p:nvSpPr>
        <p:spPr>
          <a:xfrm>
            <a:off x="5248656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Rapid oil-temperature rise</a:t>
            </a:r>
            <a:endParaRPr lang="en-US" sz="1200" dirty="0"/>
          </a:p>
        </p:txBody>
      </p:sp>
      <p:sp>
        <p:nvSpPr>
          <p:cNvPr id="33" name="Card 357"/>
          <p:cNvSpPr/>
          <p:nvPr/>
        </p:nvSpPr>
        <p:spPr>
          <a:xfrm>
            <a:off x="7351776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Num 358"/>
          <p:cNvSpPr txBox="1"/>
          <p:nvPr/>
        </p:nvSpPr>
        <p:spPr>
          <a:xfrm>
            <a:off x="7516368" y="14447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59"/>
          <p:cNvSpPr txBox="1"/>
          <p:nvPr/>
        </p:nvSpPr>
        <p:spPr>
          <a:xfrm>
            <a:off x="7516368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Current imbalance</a:t>
            </a:r>
            <a:endParaRPr lang="en-US" sz="1500" dirty="0"/>
          </a:p>
        </p:txBody>
      </p:sp>
      <p:sp>
        <p:nvSpPr>
          <p:cNvPr id="36" name="Bar 3-0"/>
          <p:cNvSpPr/>
          <p:nvPr/>
        </p:nvSpPr>
        <p:spPr>
          <a:xfrm>
            <a:off x="7534656" y="2350008"/>
            <a:ext cx="182880" cy="57607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Bar 3-1"/>
          <p:cNvSpPr/>
          <p:nvPr/>
        </p:nvSpPr>
        <p:spPr>
          <a:xfrm>
            <a:off x="7808976" y="2574036"/>
            <a:ext cx="182880" cy="35204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Bar 3-2"/>
          <p:cNvSpPr/>
          <p:nvPr/>
        </p:nvSpPr>
        <p:spPr>
          <a:xfrm>
            <a:off x="8083296" y="2478024"/>
            <a:ext cx="182880" cy="4480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Bar 3-3"/>
          <p:cNvSpPr/>
          <p:nvPr/>
        </p:nvSpPr>
        <p:spPr>
          <a:xfrm>
            <a:off x="8357616" y="2702052"/>
            <a:ext cx="182880" cy="22402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60"/>
          <p:cNvSpPr txBox="1"/>
          <p:nvPr/>
        </p:nvSpPr>
        <p:spPr>
          <a:xfrm>
            <a:off x="7516368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Phase currents diverge; neutral current rises</a:t>
            </a:r>
            <a:endParaRPr lang="en-US" sz="1200" dirty="0"/>
          </a:p>
        </p:txBody>
      </p:sp>
      <p:sp>
        <p:nvSpPr>
          <p:cNvPr id="41" name="Card 361"/>
          <p:cNvSpPr/>
          <p:nvPr/>
        </p:nvSpPr>
        <p:spPr>
          <a:xfrm>
            <a:off x="9619488" y="1280160"/>
            <a:ext cx="2020824" cy="2468880"/>
          </a:xfrm>
          <a:prstGeom prst="roundRect">
            <a:avLst>
              <a:gd name="adj" fmla="val 4525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Num 362"/>
          <p:cNvSpPr txBox="1"/>
          <p:nvPr/>
        </p:nvSpPr>
        <p:spPr>
          <a:xfrm>
            <a:off x="9784080" y="1444752"/>
            <a:ext cx="329184" cy="329184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Text 363"/>
          <p:cNvSpPr txBox="1"/>
          <p:nvPr/>
        </p:nvSpPr>
        <p:spPr>
          <a:xfrm>
            <a:off x="9784080" y="1828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 oil level or alarm / trip</a:t>
            </a:r>
            <a:endParaRPr lang="en-US" sz="1500" dirty="0"/>
          </a:p>
        </p:txBody>
      </p:sp>
      <p:sp>
        <p:nvSpPr>
          <p:cNvPr id="44" name="Bar 4-0"/>
          <p:cNvSpPr/>
          <p:nvPr/>
        </p:nvSpPr>
        <p:spPr>
          <a:xfrm>
            <a:off x="9802368" y="2350008"/>
            <a:ext cx="182880" cy="57607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Bar 4-1"/>
          <p:cNvSpPr/>
          <p:nvPr/>
        </p:nvSpPr>
        <p:spPr>
          <a:xfrm>
            <a:off x="10076688" y="2382012"/>
            <a:ext cx="182880" cy="54406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Bar 4-2"/>
          <p:cNvSpPr/>
          <p:nvPr/>
        </p:nvSpPr>
        <p:spPr>
          <a:xfrm>
            <a:off x="10351008" y="2478024"/>
            <a:ext cx="182880" cy="44805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Bar 4-3"/>
          <p:cNvSpPr/>
          <p:nvPr/>
        </p:nvSpPr>
        <p:spPr>
          <a:xfrm>
            <a:off x="10625328" y="2606040"/>
            <a:ext cx="182880" cy="320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Bar 4-4"/>
          <p:cNvSpPr/>
          <p:nvPr/>
        </p:nvSpPr>
        <p:spPr>
          <a:xfrm>
            <a:off x="10899648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Bar 4-5"/>
          <p:cNvSpPr/>
          <p:nvPr/>
        </p:nvSpPr>
        <p:spPr>
          <a:xfrm>
            <a:off x="11173968" y="2734056"/>
            <a:ext cx="182880" cy="19202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364"/>
          <p:cNvSpPr txBox="1"/>
          <p:nvPr/>
        </p:nvSpPr>
        <p:spPr>
          <a:xfrm>
            <a:off x="978408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Optional, when the field is present</a:t>
            </a:r>
            <a:endParaRPr lang="en-US" sz="1200" dirty="0"/>
          </a:p>
        </p:txBody>
      </p:sp>
      <p:sp>
        <p:nvSpPr>
          <p:cNvPr id="51" name="Node 365"/>
          <p:cNvSpPr txBox="1"/>
          <p:nvPr/>
        </p:nvSpPr>
        <p:spPr>
          <a:xfrm>
            <a:off x="548640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Scenario injection</a:t>
            </a:r>
            <a:endParaRPr lang="en-US" sz="1300" dirty="0"/>
          </a:p>
        </p:txBody>
      </p:sp>
      <p:sp>
        <p:nvSpPr>
          <p:cNvPr id="52" name="Line 366"/>
          <p:cNvSpPr/>
          <p:nvPr/>
        </p:nvSpPr>
        <p:spPr>
          <a:xfrm>
            <a:off x="2244852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3" name="Node 367"/>
          <p:cNvSpPr txBox="1"/>
          <p:nvPr/>
        </p:nvSpPr>
        <p:spPr>
          <a:xfrm>
            <a:off x="2437790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Coherent telemetry change</a:t>
            </a:r>
            <a:endParaRPr lang="en-US" sz="1300" dirty="0"/>
          </a:p>
        </p:txBody>
      </p:sp>
      <p:sp>
        <p:nvSpPr>
          <p:cNvPr id="54" name="Line 368"/>
          <p:cNvSpPr/>
          <p:nvPr/>
        </p:nvSpPr>
        <p:spPr>
          <a:xfrm>
            <a:off x="4134002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5" name="Node 369"/>
          <p:cNvSpPr txBox="1"/>
          <p:nvPr/>
        </p:nvSpPr>
        <p:spPr>
          <a:xfrm>
            <a:off x="4326941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Ingestion</a:t>
            </a:r>
            <a:endParaRPr lang="en-US" sz="1300" dirty="0"/>
          </a:p>
        </p:txBody>
      </p:sp>
      <p:sp>
        <p:nvSpPr>
          <p:cNvPr id="56" name="Line 370"/>
          <p:cNvSpPr/>
          <p:nvPr/>
        </p:nvSpPr>
        <p:spPr>
          <a:xfrm>
            <a:off x="6023153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Node 371"/>
          <p:cNvSpPr txBox="1"/>
          <p:nvPr/>
        </p:nvSpPr>
        <p:spPr>
          <a:xfrm>
            <a:off x="6216091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Analytics and eligible synthetic physics</a:t>
            </a:r>
            <a:endParaRPr lang="en-US" sz="1300" dirty="0"/>
          </a:p>
        </p:txBody>
      </p:sp>
      <p:sp>
        <p:nvSpPr>
          <p:cNvPr id="58" name="Line 372"/>
          <p:cNvSpPr/>
          <p:nvPr/>
        </p:nvSpPr>
        <p:spPr>
          <a:xfrm>
            <a:off x="7912303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9" name="Node 373"/>
          <p:cNvSpPr txBox="1"/>
          <p:nvPr/>
        </p:nvSpPr>
        <p:spPr>
          <a:xfrm>
            <a:off x="8105242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Status, trend, alerts, reason codes</a:t>
            </a:r>
            <a:endParaRPr lang="en-US" sz="1300" dirty="0"/>
          </a:p>
        </p:txBody>
      </p:sp>
      <p:sp>
        <p:nvSpPr>
          <p:cNvPr id="60" name="Line 374"/>
          <p:cNvSpPr/>
          <p:nvPr/>
        </p:nvSpPr>
        <p:spPr>
          <a:xfrm>
            <a:off x="9801454" y="4663440"/>
            <a:ext cx="19293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1" name="Node 375"/>
          <p:cNvSpPr txBox="1"/>
          <p:nvPr/>
        </p:nvSpPr>
        <p:spPr>
          <a:xfrm>
            <a:off x="9994392" y="4114800"/>
            <a:ext cx="1696212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Maintenance priority and recommendation</a:t>
            </a:r>
            <a:endParaRPr lang="en-US" sz="13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Roadmap: from synthetic prototype to field evidence</a:t>
            </a:r>
            <a:endParaRPr lang="en-US" sz="3000" dirty="0"/>
          </a:p>
        </p:txBody>
      </p:sp>
      <p:sp>
        <p:nvSpPr>
          <p:cNvPr id="3" name="Line 392"/>
          <p:cNvSpPr/>
          <p:nvPr/>
        </p:nvSpPr>
        <p:spPr>
          <a:xfrm>
            <a:off x="1399032" y="1655064"/>
            <a:ext cx="939088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Num 393"/>
          <p:cNvSpPr txBox="1"/>
          <p:nvPr/>
        </p:nvSpPr>
        <p:spPr>
          <a:xfrm>
            <a:off x="960120" y="14173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Card 394"/>
          <p:cNvSpPr/>
          <p:nvPr/>
        </p:nvSpPr>
        <p:spPr>
          <a:xfrm>
            <a:off x="548640" y="2103120"/>
            <a:ext cx="1760220" cy="210312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95"/>
          <p:cNvSpPr txBox="1"/>
          <p:nvPr/>
        </p:nvSpPr>
        <p:spPr>
          <a:xfrm>
            <a:off x="685800" y="2240280"/>
            <a:ext cx="1508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Complete manual run-through of the isolated ten-asset stack and browser dashboard</a:t>
            </a:r>
            <a:endParaRPr lang="en-US" sz="1400" dirty="0"/>
          </a:p>
        </p:txBody>
      </p:sp>
      <p:sp>
        <p:nvSpPr>
          <p:cNvPr id="7" name="Num 396"/>
          <p:cNvSpPr txBox="1"/>
          <p:nvPr/>
        </p:nvSpPr>
        <p:spPr>
          <a:xfrm>
            <a:off x="2839212" y="14173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Card 397"/>
          <p:cNvSpPr/>
          <p:nvPr/>
        </p:nvSpPr>
        <p:spPr>
          <a:xfrm>
            <a:off x="2427732" y="2103120"/>
            <a:ext cx="1760220" cy="210312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98"/>
          <p:cNvSpPr txBox="1"/>
          <p:nvPr/>
        </p:nvSpPr>
        <p:spPr>
          <a:xfrm>
            <a:off x="2564892" y="2240280"/>
            <a:ext cx="1508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Connect real sensors / SCADA via a verified adapter with units, calibration, provenance, timestamps</a:t>
            </a:r>
            <a:endParaRPr lang="en-US" sz="1400" dirty="0"/>
          </a:p>
        </p:txBody>
      </p:sp>
      <p:sp>
        <p:nvSpPr>
          <p:cNvPr id="10" name="Num 399"/>
          <p:cNvSpPr txBox="1"/>
          <p:nvPr/>
        </p:nvSpPr>
        <p:spPr>
          <a:xfrm>
            <a:off x="4718304" y="14173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Card 400"/>
          <p:cNvSpPr/>
          <p:nvPr/>
        </p:nvSpPr>
        <p:spPr>
          <a:xfrm>
            <a:off x="4306824" y="2103120"/>
            <a:ext cx="1760220" cy="210312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401"/>
          <p:cNvSpPr txBox="1"/>
          <p:nvPr/>
        </p:nvSpPr>
        <p:spPr>
          <a:xfrm>
            <a:off x="4443984" y="2240280"/>
            <a:ext cx="1508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Collect equipment-specific nameplate and loss / thermal parameters from authoritative records</a:t>
            </a:r>
            <a:endParaRPr lang="en-US" sz="1400" dirty="0"/>
          </a:p>
        </p:txBody>
      </p:sp>
      <p:sp>
        <p:nvSpPr>
          <p:cNvPr id="13" name="Num 402"/>
          <p:cNvSpPr txBox="1"/>
          <p:nvPr/>
        </p:nvSpPr>
        <p:spPr>
          <a:xfrm>
            <a:off x="6597396" y="14173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Card 403"/>
          <p:cNvSpPr/>
          <p:nvPr/>
        </p:nvSpPr>
        <p:spPr>
          <a:xfrm>
            <a:off x="6185916" y="2103120"/>
            <a:ext cx="1760220" cy="210312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404"/>
          <p:cNvSpPr txBox="1"/>
          <p:nvPr/>
        </p:nvSpPr>
        <p:spPr>
          <a:xfrm>
            <a:off x="6323076" y="2240280"/>
            <a:ext cx="1508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Validate thermal behaviour and anomaly alerts on approved field / historical data</a:t>
            </a:r>
            <a:endParaRPr lang="en-US" sz="1400" dirty="0"/>
          </a:p>
        </p:txBody>
      </p:sp>
      <p:sp>
        <p:nvSpPr>
          <p:cNvPr id="16" name="Num 405"/>
          <p:cNvSpPr txBox="1"/>
          <p:nvPr/>
        </p:nvSpPr>
        <p:spPr>
          <a:xfrm>
            <a:off x="8476488" y="14173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Card 406"/>
          <p:cNvSpPr/>
          <p:nvPr/>
        </p:nvSpPr>
        <p:spPr>
          <a:xfrm>
            <a:off x="8065008" y="2103120"/>
            <a:ext cx="1760220" cy="210312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407"/>
          <p:cNvSpPr txBox="1"/>
          <p:nvPr/>
        </p:nvSpPr>
        <p:spPr>
          <a:xfrm>
            <a:off x="8202168" y="2240280"/>
            <a:ext cx="1508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Release forecasting / RUL only after target definition, testing and external validation</a:t>
            </a:r>
            <a:endParaRPr lang="en-US" sz="1400" dirty="0"/>
          </a:p>
        </p:txBody>
      </p:sp>
      <p:sp>
        <p:nvSpPr>
          <p:cNvPr id="19" name="Num 408"/>
          <p:cNvSpPr txBox="1"/>
          <p:nvPr/>
        </p:nvSpPr>
        <p:spPr>
          <a:xfrm>
            <a:off x="10355580" y="14173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Card 409"/>
          <p:cNvSpPr/>
          <p:nvPr/>
        </p:nvSpPr>
        <p:spPr>
          <a:xfrm>
            <a:off x="9944100" y="2103120"/>
            <a:ext cx="1760220" cy="2103120"/>
          </a:xfrm>
          <a:prstGeom prst="roundRect">
            <a:avLst>
              <a:gd name="adj" fmla="val 519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410"/>
          <p:cNvSpPr txBox="1"/>
          <p:nvPr/>
        </p:nvSpPr>
        <p:spPr>
          <a:xfrm>
            <a:off x="10081260" y="2240280"/>
            <a:ext cx="1508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Add reporting, maintenance workflow integration, audit trail and utility-system integration</a:t>
            </a:r>
            <a:endParaRPr lang="en-US" sz="1400" dirty="0"/>
          </a:p>
        </p:txBody>
      </p:sp>
      <p:sp>
        <p:nvSpPr>
          <p:cNvPr id="22" name="Card 411"/>
          <p:cNvSpPr/>
          <p:nvPr/>
        </p:nvSpPr>
        <p:spPr>
          <a:xfrm>
            <a:off x="548640" y="4526280"/>
            <a:ext cx="11091672" cy="1783080"/>
          </a:xfrm>
          <a:prstGeom prst="roundRect">
            <a:avLst>
              <a:gd name="adj" fmla="val 5128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412"/>
          <p:cNvSpPr txBox="1"/>
          <p:nvPr/>
        </p:nvSpPr>
        <p:spPr>
          <a:xfrm>
            <a:off x="868680" y="461772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One operational view.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Traceable telemetry.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Explainable thermal calculations.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700" i="1" dirty="0">
                <a:solidFill>
                  <a:schemeClr val="accent2"/>
                </a:solidFill>
              </a:rPr>
              <a:t>A clear path from synthetic prototype to evidence-backed transformer monitoring.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CC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dTwin">
  <a:themeElements>
    <a:clrScheme name="GridTwin">
      <a:dk1>
        <a:srgbClr val="0B1F33"/>
      </a:dk1>
      <a:lt1>
        <a:srgbClr val="FFFFFF"/>
      </a:lt1>
      <a:dk2>
        <a:srgbClr val="163A59"/>
      </a:dk2>
      <a:lt2>
        <a:srgbClr val="EEF3F7"/>
      </a:lt2>
      <a:accent1>
        <a:srgbClr val="0E9AA7"/>
      </a:accent1>
      <a:accent2>
        <a:srgbClr val="F5A623"/>
      </a:accent2>
      <a:accent3>
        <a:srgbClr val="3D6A8F"/>
      </a:accent3>
      <a:accent4>
        <a:srgbClr val="C8423E"/>
      </a:accent4>
      <a:accent5>
        <a:srgbClr val="3FA877"/>
      </a:accent5>
      <a:accent6>
        <a:srgbClr val="5C6F82"/>
      </a:accent6>
      <a:hlink>
        <a:srgbClr val="0E9AA7"/>
      </a:hlink>
      <a:folHlink>
        <a:srgbClr val="3D6A8F"/>
      </a:folHlink>
    </a:clrScheme>
    <a:fontScheme name="Grid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1416</Words>
  <Application>Microsoft Office PowerPoint</Application>
  <PresentationFormat>Widescreen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GridTwin</vt:lpstr>
      <vt:lpstr>Transformer Digital Twin</vt:lpstr>
      <vt:lpstr>Fixed-interval maintenance misses changing conditions</vt:lpstr>
      <vt:lpstr>One software twin, one fleet dashboard</vt:lpstr>
      <vt:lpstr>What we ingest and normalize</vt:lpstr>
      <vt:lpstr>From simulator to dashboard: one traceable pipeline</vt:lpstr>
      <vt:lpstr>Architecture: separated responsibilities</vt:lpstr>
      <vt:lpstr>Backend processing protects data integrity</vt:lpstr>
      <vt:lpstr>Analytics turn telemetry into explainable signals</vt:lpstr>
      <vt:lpstr>A two-node thermal model drives the digital twin</vt:lpstr>
      <vt:lpstr>Physics indicators 1–6: thermal and loss formulas</vt:lpstr>
      <vt:lpstr>Physics indicators 7–10: aging and FEM formulas</vt:lpstr>
      <vt:lpstr>Demonstration: controlled fault scenarios</vt:lpstr>
      <vt:lpstr>Roadmap: from synthetic prototype to field evidence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Digital Twin</dc:title>
  <dc:subject>PptxGenJS Presentation</dc:subject>
  <dc:creator>PptxGenJS</dc:creator>
  <cp:lastModifiedBy>Amitosh Nigam</cp:lastModifiedBy>
  <cp:revision>2</cp:revision>
  <dcterms:created xsi:type="dcterms:W3CDTF">2026-10-11T05:01:24Z</dcterms:created>
  <dcterms:modified xsi:type="dcterms:W3CDTF">2026-10-11T05:12:49Z</dcterms:modified>
</cp:coreProperties>
</file>