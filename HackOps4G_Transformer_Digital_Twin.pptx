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6" r:id="rId3"/>
    <p:sldId id="260" r:id="rId4"/>
    <p:sldId id="261" r:id="rId5"/>
    <p:sldId id="262" r:id="rId6"/>
    <p:sldId id="264" r:id="rId7"/>
    <p:sldId id="275" r:id="rId8"/>
    <p:sldId id="266" r:id="rId9"/>
    <p:sldId id="267" r:id="rId10"/>
    <p:sldId id="272" r:id="rId11"/>
    <p:sldId id="269" r:id="rId12"/>
    <p:sldId id="273" r:id="rId13"/>
    <p:sldId id="27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C445FBC5-0348-8B81-95ED-B28CF1DA292E}">
          <p14:sldIdLst>
            <p14:sldId id="256"/>
          </p14:sldIdLst>
        </p14:section>
        <p14:section name="System" id="{CBAF983E-7516-8773-EBCD-F7DA782F66E3}">
          <p14:sldIdLst>
            <p14:sldId id="276"/>
            <p14:sldId id="260"/>
            <p14:sldId id="261"/>
            <p14:sldId id="262"/>
            <p14:sldId id="264"/>
            <p14:sldId id="275"/>
          </p14:sldIdLst>
        </p14:section>
        <p14:section name="Physics" id="{55AF0760-5A51-E2AF-BF32-73F0D951D18C}">
          <p14:sldIdLst>
            <p14:sldId id="266"/>
            <p14:sldId id="267"/>
            <p14:sldId id="272"/>
            <p14:sldId id="269"/>
            <p14:sldId id="273"/>
            <p14:sldId id="274"/>
          </p14:sldIdLst>
        </p14:section>
        <p14:section name="Status" id="{2C701668-120F-3845-965D-355FA691432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65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Transformer Digital Twin  |  PowerNext AI Hackathon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CCD"/>
                </a:solidFill>
              </a:rPr>
              <a:t>Transformer Digital Twin  |  PowerNext AI Hackathon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CC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CCD"/>
                </a:solidFill>
              </a:rPr>
              <a:t>PowerNext AI Hackathon  |  Digital Twin Dashboard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554480"/>
            <a:ext cx="6126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566160"/>
            <a:ext cx="5852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93866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Transformer Digital Twin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44350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POWERNEXT AI HACKATHON</a:t>
            </a:r>
            <a:endParaRPr lang="en-US" sz="13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8B88ECA-0F8E-8C60-257F-EE9935737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986" y="2024743"/>
            <a:ext cx="8574834" cy="4252591"/>
          </a:xfrm>
          <a:prstGeom prst="rect">
            <a:avLst/>
          </a:prstGeom>
        </p:spPr>
      </p:pic>
      <p:sp>
        <p:nvSpPr>
          <p:cNvPr id="41" name="Text 1">
            <a:extLst>
              <a:ext uri="{FF2B5EF4-FFF2-40B4-BE49-F238E27FC236}">
                <a16:creationId xmlns:a16="http://schemas.microsoft.com/office/drawing/2014/main" id="{53D9AF67-E610-9528-BFAE-B3A6EBD2E178}"/>
              </a:ext>
            </a:extLst>
          </p:cNvPr>
          <p:cNvSpPr txBox="1">
            <a:spLocks/>
          </p:cNvSpPr>
          <p:nvPr/>
        </p:nvSpPr>
        <p:spPr>
          <a:xfrm>
            <a:off x="320040" y="4944602"/>
            <a:ext cx="3076303" cy="681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Team - Hackops4G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B1B34EFF-DBC3-30D7-FFFC-49B471ECA81A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Beyond Sensors: Seeing Inside the Transformer</a:t>
            </a:r>
            <a:endParaRPr lang="en-US" sz="3000" dirty="0"/>
          </a:p>
        </p:txBody>
      </p:sp>
      <p:sp>
        <p:nvSpPr>
          <p:cNvPr id="7" name="Pill 2">
            <a:extLst>
              <a:ext uri="{FF2B5EF4-FFF2-40B4-BE49-F238E27FC236}">
                <a16:creationId xmlns:a16="http://schemas.microsoft.com/office/drawing/2014/main" id="{DAFEA66E-8F85-CB7F-7EFD-BCE509D5EA28}"/>
              </a:ext>
            </a:extLst>
          </p:cNvPr>
          <p:cNvSpPr txBox="1"/>
          <p:nvPr/>
        </p:nvSpPr>
        <p:spPr>
          <a:xfrm>
            <a:off x="548640" y="1536192"/>
            <a:ext cx="210312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Measured data</a:t>
            </a:r>
            <a:endParaRPr lang="en-US" sz="15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D7C509F-F8AE-00B3-C0DD-738BB7D3EF17}"/>
              </a:ext>
            </a:extLst>
          </p:cNvPr>
          <p:cNvSpPr txBox="1"/>
          <p:nvPr/>
        </p:nvSpPr>
        <p:spPr>
          <a:xfrm>
            <a:off x="2651760" y="15361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6"/>
                </a:solidFill>
              </a:rPr>
              <a:t>+</a:t>
            </a:r>
            <a:endParaRPr lang="en-US" sz="2200" dirty="0"/>
          </a:p>
        </p:txBody>
      </p:sp>
      <p:sp>
        <p:nvSpPr>
          <p:cNvPr id="9" name="Pill 4">
            <a:extLst>
              <a:ext uri="{FF2B5EF4-FFF2-40B4-BE49-F238E27FC236}">
                <a16:creationId xmlns:a16="http://schemas.microsoft.com/office/drawing/2014/main" id="{036CB7B6-6E5D-B851-5F7B-75990CF762A5}"/>
              </a:ext>
            </a:extLst>
          </p:cNvPr>
          <p:cNvSpPr txBox="1"/>
          <p:nvPr/>
        </p:nvSpPr>
        <p:spPr>
          <a:xfrm>
            <a:off x="3063240" y="1536192"/>
            <a:ext cx="228600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Physics models</a:t>
            </a:r>
            <a:endParaRPr lang="en-US" sz="15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7020590-BFCB-5FAE-6F41-EB7BA7539E4F}"/>
              </a:ext>
            </a:extLst>
          </p:cNvPr>
          <p:cNvSpPr txBox="1"/>
          <p:nvPr/>
        </p:nvSpPr>
        <p:spPr>
          <a:xfrm>
            <a:off x="5349240" y="15361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6"/>
                </a:solidFill>
              </a:rPr>
              <a:t>+</a:t>
            </a:r>
            <a:endParaRPr lang="en-US" sz="2200" dirty="0"/>
          </a:p>
        </p:txBody>
      </p:sp>
      <p:sp>
        <p:nvSpPr>
          <p:cNvPr id="11" name="Pill 6">
            <a:extLst>
              <a:ext uri="{FF2B5EF4-FFF2-40B4-BE49-F238E27FC236}">
                <a16:creationId xmlns:a16="http://schemas.microsoft.com/office/drawing/2014/main" id="{FB294A83-DE0D-BDB4-FEEB-F58B7497948A}"/>
              </a:ext>
            </a:extLst>
          </p:cNvPr>
          <p:cNvSpPr txBox="1"/>
          <p:nvPr/>
        </p:nvSpPr>
        <p:spPr>
          <a:xfrm>
            <a:off x="5760720" y="1536192"/>
            <a:ext cx="109728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AI</a:t>
            </a:r>
            <a:endParaRPr lang="en-US" sz="15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EBF0250-F987-2868-969A-A39A4E35F934}"/>
              </a:ext>
            </a:extLst>
          </p:cNvPr>
          <p:cNvSpPr txBox="1"/>
          <p:nvPr/>
        </p:nvSpPr>
        <p:spPr>
          <a:xfrm>
            <a:off x="6858000" y="1536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Pill 8">
            <a:extLst>
              <a:ext uri="{FF2B5EF4-FFF2-40B4-BE49-F238E27FC236}">
                <a16:creationId xmlns:a16="http://schemas.microsoft.com/office/drawing/2014/main" id="{33EEB08A-E936-46F1-1BCC-B6329984024E}"/>
              </a:ext>
            </a:extLst>
          </p:cNvPr>
          <p:cNvSpPr txBox="1"/>
          <p:nvPr/>
        </p:nvSpPr>
        <p:spPr>
          <a:xfrm>
            <a:off x="7360920" y="1536192"/>
            <a:ext cx="301752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Actionable digital twin</a:t>
            </a:r>
            <a:endParaRPr lang="en-US" sz="1500" dirty="0"/>
          </a:p>
        </p:txBody>
      </p:sp>
      <p:sp>
        <p:nvSpPr>
          <p:cNvPr id="14" name="Card 9">
            <a:extLst>
              <a:ext uri="{FF2B5EF4-FFF2-40B4-BE49-F238E27FC236}">
                <a16:creationId xmlns:a16="http://schemas.microsoft.com/office/drawing/2014/main" id="{21B0C93B-7AFD-FD43-E308-FB2EE8275869}"/>
              </a:ext>
            </a:extLst>
          </p:cNvPr>
          <p:cNvSpPr/>
          <p:nvPr/>
        </p:nvSpPr>
        <p:spPr>
          <a:xfrm>
            <a:off x="548640" y="2240280"/>
            <a:ext cx="51206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B70B729-E026-7018-C6D2-576769B71BC5}"/>
              </a:ext>
            </a:extLst>
          </p:cNvPr>
          <p:cNvSpPr txBox="1"/>
          <p:nvPr/>
        </p:nvSpPr>
        <p:spPr>
          <a:xfrm>
            <a:off x="82296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Conventional monitoring</a:t>
            </a:r>
            <a:endParaRPr lang="en-US" sz="18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12890297-E61C-A2B3-B196-F5C34ACAC584}"/>
              </a:ext>
            </a:extLst>
          </p:cNvPr>
          <p:cNvSpPr txBox="1"/>
          <p:nvPr/>
        </p:nvSpPr>
        <p:spPr>
          <a:xfrm>
            <a:off x="822960" y="2880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Relies on directly measured sensor values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Fixed thresholds may miss evolving thermal stress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Limited visibility into internal transformer conditions</a:t>
            </a:r>
            <a:endParaRPr lang="en-US" sz="1400" dirty="0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43D31A32-2D35-C18B-9EC0-3C65C5523923}"/>
              </a:ext>
            </a:extLst>
          </p:cNvPr>
          <p:cNvSpPr/>
          <p:nvPr/>
        </p:nvSpPr>
        <p:spPr>
          <a:xfrm>
            <a:off x="5760720" y="3310128"/>
            <a:ext cx="41148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Card 13">
            <a:extLst>
              <a:ext uri="{FF2B5EF4-FFF2-40B4-BE49-F238E27FC236}">
                <a16:creationId xmlns:a16="http://schemas.microsoft.com/office/drawing/2014/main" id="{858B53A5-FEC2-8D1E-35B2-75A3C1F76462}"/>
              </a:ext>
            </a:extLst>
          </p:cNvPr>
          <p:cNvSpPr/>
          <p:nvPr/>
        </p:nvSpPr>
        <p:spPr>
          <a:xfrm>
            <a:off x="6263640" y="2240280"/>
            <a:ext cx="5376672" cy="214884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1AC0F03C-8A77-EBA5-DA18-E064411AE6E0}"/>
              </a:ext>
            </a:extLst>
          </p:cNvPr>
          <p:cNvSpPr txBox="1"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Our proposed solution</a:t>
            </a:r>
            <a:endParaRPr lang="en-US" sz="18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AD7412BE-3544-FB2A-A683-37AF250C3C6E}"/>
              </a:ext>
            </a:extLst>
          </p:cNvPr>
          <p:cNvSpPr txBox="1"/>
          <p:nvPr/>
        </p:nvSpPr>
        <p:spPr>
          <a:xfrm>
            <a:off x="6537960" y="283464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Combine live telemetry with transformer physics equations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Estimate internal winding hot-spot temperature and thermal ageing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Detect abnormal thermal response and assess cooling effectiveness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Generate explainable, evidence-based maintenance insights</a:t>
            </a:r>
            <a:endParaRPr lang="en-US" sz="13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E2454297-D650-B346-381F-CB4959973156}"/>
              </a:ext>
            </a:extLst>
          </p:cNvPr>
          <p:cNvSpPr txBox="1"/>
          <p:nvPr/>
        </p:nvSpPr>
        <p:spPr>
          <a:xfrm>
            <a:off x="54864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22" name="Card 17">
            <a:extLst>
              <a:ext uri="{FF2B5EF4-FFF2-40B4-BE49-F238E27FC236}">
                <a16:creationId xmlns:a16="http://schemas.microsoft.com/office/drawing/2014/main" id="{852BE431-6CBA-F67F-6EA3-D09E26AB6CDB}"/>
              </a:ext>
            </a:extLst>
          </p:cNvPr>
          <p:cNvSpPr/>
          <p:nvPr/>
        </p:nvSpPr>
        <p:spPr>
          <a:xfrm>
            <a:off x="548640" y="4892040"/>
            <a:ext cx="356616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Num 18">
            <a:extLst>
              <a:ext uri="{FF2B5EF4-FFF2-40B4-BE49-F238E27FC236}">
                <a16:creationId xmlns:a16="http://schemas.microsoft.com/office/drawing/2014/main" id="{E33CD9A7-685D-FE74-0FD2-37D3AA0B4033}"/>
              </a:ext>
            </a:extLst>
          </p:cNvPr>
          <p:cNvSpPr txBox="1"/>
          <p:nvPr/>
        </p:nvSpPr>
        <p:spPr>
          <a:xfrm>
            <a:off x="713232" y="50292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F25C7E01-33F0-7A32-336C-3DF4F91D5A03}"/>
              </a:ext>
            </a:extLst>
          </p:cNvPr>
          <p:cNvSpPr txBox="1"/>
          <p:nvPr/>
        </p:nvSpPr>
        <p:spPr>
          <a:xfrm>
            <a:off x="1234440" y="492861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Simulate transformer behaviour under changing loads</a:t>
            </a:r>
            <a:endParaRPr lang="en-US" sz="1300" dirty="0"/>
          </a:p>
        </p:txBody>
      </p:sp>
      <p:sp>
        <p:nvSpPr>
          <p:cNvPr id="25" name="Card 20">
            <a:extLst>
              <a:ext uri="{FF2B5EF4-FFF2-40B4-BE49-F238E27FC236}">
                <a16:creationId xmlns:a16="http://schemas.microsoft.com/office/drawing/2014/main" id="{41BE79AB-F32E-5857-43D0-EB72DD1430F2}"/>
              </a:ext>
            </a:extLst>
          </p:cNvPr>
          <p:cNvSpPr/>
          <p:nvPr/>
        </p:nvSpPr>
        <p:spPr>
          <a:xfrm>
            <a:off x="4311396" y="4892040"/>
            <a:ext cx="356616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Num 21">
            <a:extLst>
              <a:ext uri="{FF2B5EF4-FFF2-40B4-BE49-F238E27FC236}">
                <a16:creationId xmlns:a16="http://schemas.microsoft.com/office/drawing/2014/main" id="{F16E1CA0-7997-E4DB-2C81-1902B929F893}"/>
              </a:ext>
            </a:extLst>
          </p:cNvPr>
          <p:cNvSpPr txBox="1"/>
          <p:nvPr/>
        </p:nvSpPr>
        <p:spPr>
          <a:xfrm>
            <a:off x="4475988" y="50292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DECD9202-9C16-5749-46AD-EE5D9166B5FC}"/>
              </a:ext>
            </a:extLst>
          </p:cNvPr>
          <p:cNvSpPr txBox="1"/>
          <p:nvPr/>
        </p:nvSpPr>
        <p:spPr>
          <a:xfrm>
            <a:off x="4997196" y="492861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Reconstruct hidden thermal conditions using physics models</a:t>
            </a:r>
            <a:endParaRPr lang="en-US" sz="1300" dirty="0"/>
          </a:p>
        </p:txBody>
      </p:sp>
      <p:sp>
        <p:nvSpPr>
          <p:cNvPr id="28" name="Card 23">
            <a:extLst>
              <a:ext uri="{FF2B5EF4-FFF2-40B4-BE49-F238E27FC236}">
                <a16:creationId xmlns:a16="http://schemas.microsoft.com/office/drawing/2014/main" id="{E9FE794A-0CA5-F773-DFD9-06902D18F93D}"/>
              </a:ext>
            </a:extLst>
          </p:cNvPr>
          <p:cNvSpPr/>
          <p:nvPr/>
        </p:nvSpPr>
        <p:spPr>
          <a:xfrm>
            <a:off x="8074152" y="4892040"/>
            <a:ext cx="356616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Num 24">
            <a:extLst>
              <a:ext uri="{FF2B5EF4-FFF2-40B4-BE49-F238E27FC236}">
                <a16:creationId xmlns:a16="http://schemas.microsoft.com/office/drawing/2014/main" id="{F43FC536-D7B1-4977-C03E-70D63EB94211}"/>
              </a:ext>
            </a:extLst>
          </p:cNvPr>
          <p:cNvSpPr txBox="1"/>
          <p:nvPr/>
        </p:nvSpPr>
        <p:spPr>
          <a:xfrm>
            <a:off x="8238744" y="50292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31CC409A-43AA-B0C3-17DC-C2F47AC7A499}"/>
              </a:ext>
            </a:extLst>
          </p:cNvPr>
          <p:cNvSpPr txBox="1"/>
          <p:nvPr/>
        </p:nvSpPr>
        <p:spPr>
          <a:xfrm>
            <a:off x="8759952" y="492861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Estimate hot-spot temperature and insulation ageing</a:t>
            </a:r>
            <a:endParaRPr lang="en-US" sz="1300" dirty="0"/>
          </a:p>
        </p:txBody>
      </p:sp>
      <p:sp>
        <p:nvSpPr>
          <p:cNvPr id="31" name="Card 26">
            <a:extLst>
              <a:ext uri="{FF2B5EF4-FFF2-40B4-BE49-F238E27FC236}">
                <a16:creationId xmlns:a16="http://schemas.microsoft.com/office/drawing/2014/main" id="{91E1A5F7-4182-2BDB-B51E-29C817ACE292}"/>
              </a:ext>
            </a:extLst>
          </p:cNvPr>
          <p:cNvSpPr/>
          <p:nvPr/>
        </p:nvSpPr>
        <p:spPr>
          <a:xfrm>
            <a:off x="548640" y="5641848"/>
            <a:ext cx="356616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Num 27">
            <a:extLst>
              <a:ext uri="{FF2B5EF4-FFF2-40B4-BE49-F238E27FC236}">
                <a16:creationId xmlns:a16="http://schemas.microsoft.com/office/drawing/2014/main" id="{CCEF0A98-4A99-BA26-6AA1-F36B8C11F3B5}"/>
              </a:ext>
            </a:extLst>
          </p:cNvPr>
          <p:cNvSpPr txBox="1"/>
          <p:nvPr/>
        </p:nvSpPr>
        <p:spPr>
          <a:xfrm>
            <a:off x="713232" y="57790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7553FCFE-EEBC-AFD3-F7F6-FFF975730374}"/>
              </a:ext>
            </a:extLst>
          </p:cNvPr>
          <p:cNvSpPr txBox="1"/>
          <p:nvPr/>
        </p:nvSpPr>
        <p:spPr>
          <a:xfrm>
            <a:off x="1234440" y="5678424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Detect anomalies using physics-informed AI</a:t>
            </a:r>
            <a:endParaRPr lang="en-US" sz="1300" dirty="0"/>
          </a:p>
        </p:txBody>
      </p:sp>
      <p:sp>
        <p:nvSpPr>
          <p:cNvPr id="34" name="Card 29">
            <a:extLst>
              <a:ext uri="{FF2B5EF4-FFF2-40B4-BE49-F238E27FC236}">
                <a16:creationId xmlns:a16="http://schemas.microsoft.com/office/drawing/2014/main" id="{B1835938-7174-6886-6758-D497B5B6FF88}"/>
              </a:ext>
            </a:extLst>
          </p:cNvPr>
          <p:cNvSpPr/>
          <p:nvPr/>
        </p:nvSpPr>
        <p:spPr>
          <a:xfrm>
            <a:off x="4311396" y="5641848"/>
            <a:ext cx="356616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Num 30">
            <a:extLst>
              <a:ext uri="{FF2B5EF4-FFF2-40B4-BE49-F238E27FC236}">
                <a16:creationId xmlns:a16="http://schemas.microsoft.com/office/drawing/2014/main" id="{0D68E63E-74F4-A9DA-D9DE-4A0D5635B20A}"/>
              </a:ext>
            </a:extLst>
          </p:cNvPr>
          <p:cNvSpPr txBox="1"/>
          <p:nvPr/>
        </p:nvSpPr>
        <p:spPr>
          <a:xfrm>
            <a:off x="4475988" y="57790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91669619-4A27-A3D8-BA56-4198143435D6}"/>
              </a:ext>
            </a:extLst>
          </p:cNvPr>
          <p:cNvSpPr txBox="1"/>
          <p:nvPr/>
        </p:nvSpPr>
        <p:spPr>
          <a:xfrm>
            <a:off x="4997196" y="5678424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Simulate operating scenarios and assess risk</a:t>
            </a:r>
            <a:endParaRPr lang="en-US" sz="1300" dirty="0"/>
          </a:p>
        </p:txBody>
      </p:sp>
      <p:sp>
        <p:nvSpPr>
          <p:cNvPr id="37" name="Card 32">
            <a:extLst>
              <a:ext uri="{FF2B5EF4-FFF2-40B4-BE49-F238E27FC236}">
                <a16:creationId xmlns:a16="http://schemas.microsoft.com/office/drawing/2014/main" id="{C04B20FB-F742-36EB-207F-C38C48B04220}"/>
              </a:ext>
            </a:extLst>
          </p:cNvPr>
          <p:cNvSpPr/>
          <p:nvPr/>
        </p:nvSpPr>
        <p:spPr>
          <a:xfrm>
            <a:off x="8074152" y="5641848"/>
            <a:ext cx="356616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Num 33">
            <a:extLst>
              <a:ext uri="{FF2B5EF4-FFF2-40B4-BE49-F238E27FC236}">
                <a16:creationId xmlns:a16="http://schemas.microsoft.com/office/drawing/2014/main" id="{F292A810-7DED-DAC3-6C0B-8C0A5FB223A5}"/>
              </a:ext>
            </a:extLst>
          </p:cNvPr>
          <p:cNvSpPr txBox="1"/>
          <p:nvPr/>
        </p:nvSpPr>
        <p:spPr>
          <a:xfrm>
            <a:off x="8238744" y="57790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ADF5D061-E344-0A0E-C9AA-B7A4CC2B10AA}"/>
              </a:ext>
            </a:extLst>
          </p:cNvPr>
          <p:cNvSpPr txBox="1"/>
          <p:nvPr/>
        </p:nvSpPr>
        <p:spPr>
          <a:xfrm>
            <a:off x="8759952" y="5678424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Visualize transformer health, uncertainty and maintenance priorities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51286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ingest and normalize</a:t>
            </a:r>
            <a:endParaRPr lang="en-US" sz="3000" dirty="0"/>
          </a:p>
        </p:txBody>
      </p:sp>
      <p:sp>
        <p:nvSpPr>
          <p:cNvPr id="3" name="Card 114"/>
          <p:cNvSpPr/>
          <p:nvPr/>
        </p:nvSpPr>
        <p:spPr>
          <a:xfrm>
            <a:off x="548640" y="1280160"/>
            <a:ext cx="35661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Num 115"/>
          <p:cNvSpPr txBox="1"/>
          <p:nvPr/>
        </p:nvSpPr>
        <p:spPr>
          <a:xfrm>
            <a:off x="777240" y="14813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116"/>
          <p:cNvSpPr txBox="1"/>
          <p:nvPr/>
        </p:nvSpPr>
        <p:spPr>
          <a:xfrm>
            <a:off x="1325880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Thermal / environment</a:t>
            </a:r>
            <a:endParaRPr lang="en-US" sz="1800" dirty="0"/>
          </a:p>
        </p:txBody>
      </p:sp>
      <p:sp>
        <p:nvSpPr>
          <p:cNvPr id="6" name="Text 117"/>
          <p:cNvSpPr txBox="1"/>
          <p:nvPr/>
        </p:nvSpPr>
        <p:spPr>
          <a:xfrm>
            <a:off x="822960" y="21031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Oil temperature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Ambient temperature</a:t>
            </a:r>
            <a:endParaRPr lang="en-US" sz="1400" dirty="0"/>
          </a:p>
        </p:txBody>
      </p:sp>
      <p:sp>
        <p:nvSpPr>
          <p:cNvPr id="7" name="Card 118"/>
          <p:cNvSpPr/>
          <p:nvPr/>
        </p:nvSpPr>
        <p:spPr>
          <a:xfrm>
            <a:off x="4311396" y="1280160"/>
            <a:ext cx="35661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Num 119"/>
          <p:cNvSpPr txBox="1"/>
          <p:nvPr/>
        </p:nvSpPr>
        <p:spPr>
          <a:xfrm>
            <a:off x="4539996" y="14813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120"/>
          <p:cNvSpPr txBox="1"/>
          <p:nvPr/>
        </p:nvSpPr>
        <p:spPr>
          <a:xfrm>
            <a:off x="5088636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Electrical</a:t>
            </a:r>
            <a:endParaRPr lang="en-US" sz="1800" dirty="0"/>
          </a:p>
        </p:txBody>
      </p:sp>
      <p:sp>
        <p:nvSpPr>
          <p:cNvPr id="10" name="Text 121"/>
          <p:cNvSpPr txBox="1"/>
          <p:nvPr/>
        </p:nvSpPr>
        <p:spPr>
          <a:xfrm>
            <a:off x="4585716" y="21031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Phase currents L1 / L2 / L3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Phase voltages in canonical telemetry; source VL12 / VL23 / VL31 excluded by the adapter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Active, reactive, apparent power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Power factor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Neutral current</a:t>
            </a:r>
            <a:endParaRPr lang="en-US" sz="1400" dirty="0"/>
          </a:p>
        </p:txBody>
      </p:sp>
      <p:sp>
        <p:nvSpPr>
          <p:cNvPr id="11" name="Card 122"/>
          <p:cNvSpPr/>
          <p:nvPr/>
        </p:nvSpPr>
        <p:spPr>
          <a:xfrm>
            <a:off x="8074152" y="1280160"/>
            <a:ext cx="35661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Num 123"/>
          <p:cNvSpPr txBox="1"/>
          <p:nvPr/>
        </p:nvSpPr>
        <p:spPr>
          <a:xfrm>
            <a:off x="8302752" y="148132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24"/>
          <p:cNvSpPr txBox="1"/>
          <p:nvPr/>
        </p:nvSpPr>
        <p:spPr>
          <a:xfrm>
            <a:off x="8851392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Condition / protection</a:t>
            </a:r>
            <a:endParaRPr lang="en-US" sz="1800" dirty="0"/>
          </a:p>
        </p:txBody>
      </p:sp>
      <p:sp>
        <p:nvSpPr>
          <p:cNvPr id="14" name="Text 125"/>
          <p:cNvSpPr txBox="1"/>
          <p:nvPr/>
        </p:nvSpPr>
        <p:spPr>
          <a:xfrm>
            <a:off x="8348472" y="21031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Oil level / oil-leak indicator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Alarms / trips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Loading and asset configuration</a:t>
            </a:r>
            <a:endParaRPr lang="en-US" sz="1400" dirty="0"/>
          </a:p>
        </p:txBody>
      </p:sp>
      <p:sp>
        <p:nvSpPr>
          <p:cNvPr id="15" name="Card 126"/>
          <p:cNvSpPr/>
          <p:nvPr/>
        </p:nvSpPr>
        <p:spPr>
          <a:xfrm>
            <a:off x="548640" y="4297680"/>
            <a:ext cx="5394960" cy="1965960"/>
          </a:xfrm>
          <a:prstGeom prst="roundRect">
            <a:avLst>
              <a:gd name="adj" fmla="val 4651"/>
            </a:avLst>
          </a:prstGeom>
          <a:solidFill>
            <a:schemeClr val="accent2">
              <a:alpha val="22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Num 127"/>
          <p:cNvSpPr txBox="1"/>
          <p:nvPr/>
        </p:nvSpPr>
        <p:spPr>
          <a:xfrm>
            <a:off x="777240" y="45262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!</a:t>
            </a:r>
            <a:endParaRPr lang="en-US" sz="1400" dirty="0"/>
          </a:p>
        </p:txBody>
      </p:sp>
      <p:sp>
        <p:nvSpPr>
          <p:cNvPr id="17" name="Text 128"/>
          <p:cNvSpPr txBox="1"/>
          <p:nvPr/>
        </p:nvSpPr>
        <p:spPr>
          <a:xfrm>
            <a:off x="1325880" y="4526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Oil leak is never inferred from oil temperature alone</a:t>
            </a:r>
            <a:endParaRPr lang="en-US" sz="1800" dirty="0"/>
          </a:p>
        </p:txBody>
      </p:sp>
      <p:sp>
        <p:nvSpPr>
          <p:cNvPr id="18" name="Text 129"/>
          <p:cNvSpPr txBox="1"/>
          <p:nvPr/>
        </p:nvSpPr>
        <p:spPr>
          <a:xfrm>
            <a:off x="1325880" y="5257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An oil-level anomaly appears only when an oil-level sensor or scenario signal exists.</a:t>
            </a:r>
            <a:endParaRPr lang="en-US" sz="1500" dirty="0"/>
          </a:p>
        </p:txBody>
      </p:sp>
      <p:sp>
        <p:nvSpPr>
          <p:cNvPr id="19" name="Card 130"/>
          <p:cNvSpPr/>
          <p:nvPr/>
        </p:nvSpPr>
        <p:spPr>
          <a:xfrm>
            <a:off x="6126480" y="4297680"/>
            <a:ext cx="5513832" cy="1965960"/>
          </a:xfrm>
          <a:prstGeom prst="roundRect">
            <a:avLst>
              <a:gd name="adj" fmla="val 4651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31"/>
          <p:cNvSpPr txBox="1"/>
          <p:nvPr/>
        </p:nvSpPr>
        <p:spPr>
          <a:xfrm>
            <a:off x="6355080" y="4526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Adapter normalizes to a canonical schema</a:t>
            </a:r>
            <a:endParaRPr lang="en-US" sz="1800" dirty="0"/>
          </a:p>
        </p:txBody>
      </p:sp>
      <p:sp>
        <p:nvSpPr>
          <p:cNvPr id="21" name="Text 132"/>
          <p:cNvSpPr txBox="1"/>
          <p:nvPr/>
        </p:nvSpPr>
        <p:spPr>
          <a:xfrm>
            <a:off x="6355080" y="52578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Checks units, identity and timestamps. Missing values stay null, never zero.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simulator to dashboard: one traceable pipeline</a:t>
            </a:r>
            <a:endParaRPr lang="en-US" sz="3000" dirty="0"/>
          </a:p>
        </p:txBody>
      </p:sp>
      <p:sp>
        <p:nvSpPr>
          <p:cNvPr id="3" name="Node 133"/>
          <p:cNvSpPr txBox="1"/>
          <p:nvPr/>
        </p:nvSpPr>
        <p:spPr>
          <a:xfrm>
            <a:off x="548640" y="128016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Historical CSV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synthetic generator</a:t>
            </a:r>
            <a:endParaRPr lang="en-US" sz="1300" dirty="0"/>
          </a:p>
        </p:txBody>
      </p:sp>
      <p:sp>
        <p:nvSpPr>
          <p:cNvPr id="4" name="Node 134"/>
          <p:cNvSpPr txBox="1"/>
          <p:nvPr/>
        </p:nvSpPr>
        <p:spPr>
          <a:xfrm>
            <a:off x="2441448" y="128016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Canonical adapter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and scenario engine</a:t>
            </a:r>
            <a:endParaRPr lang="en-US" sz="1300" dirty="0"/>
          </a:p>
        </p:txBody>
      </p:sp>
      <p:sp>
        <p:nvSpPr>
          <p:cNvPr id="5" name="Node 135"/>
          <p:cNvSpPr txBox="1"/>
          <p:nvPr/>
        </p:nvSpPr>
        <p:spPr>
          <a:xfrm>
            <a:off x="4334256" y="128016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Modbus register map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(FC04)</a:t>
            </a:r>
            <a:endParaRPr lang="en-US" sz="1300" dirty="0"/>
          </a:p>
        </p:txBody>
      </p:sp>
      <p:sp>
        <p:nvSpPr>
          <p:cNvPr id="6" name="Node 136"/>
          <p:cNvSpPr txBox="1"/>
          <p:nvPr/>
        </p:nvSpPr>
        <p:spPr>
          <a:xfrm>
            <a:off x="6227064" y="128016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Modbus bridge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+ durable spool</a:t>
            </a:r>
            <a:endParaRPr lang="en-US" sz="1300" dirty="0"/>
          </a:p>
        </p:txBody>
      </p:sp>
      <p:sp>
        <p:nvSpPr>
          <p:cNvPr id="7" name="Node 137"/>
          <p:cNvSpPr txBox="1"/>
          <p:nvPr/>
        </p:nvSpPr>
        <p:spPr>
          <a:xfrm>
            <a:off x="8119872" y="128016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MQTT broker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QoS 1</a:t>
            </a:r>
            <a:endParaRPr lang="en-US" sz="1300" dirty="0"/>
          </a:p>
        </p:txBody>
      </p:sp>
      <p:sp>
        <p:nvSpPr>
          <p:cNvPr id="8" name="Node 138"/>
          <p:cNvSpPr txBox="1"/>
          <p:nvPr/>
        </p:nvSpPr>
        <p:spPr>
          <a:xfrm>
            <a:off x="8119872" y="251460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HTTP telemetry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batch / historical replay</a:t>
            </a:r>
            <a:endParaRPr lang="en-US" sz="1300" dirty="0"/>
          </a:p>
        </p:txBody>
      </p:sp>
      <p:sp>
        <p:nvSpPr>
          <p:cNvPr id="9" name="Node 139"/>
          <p:cNvSpPr txBox="1"/>
          <p:nvPr/>
        </p:nvSpPr>
        <p:spPr>
          <a:xfrm>
            <a:off x="10012680" y="1280160"/>
            <a:ext cx="1600200" cy="214884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Shared FastAPI ingestion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HTTP, batch/replay and MQTT converge here</a:t>
            </a:r>
            <a:endParaRPr lang="en-US" sz="1300" dirty="0"/>
          </a:p>
        </p:txBody>
      </p:sp>
      <p:sp>
        <p:nvSpPr>
          <p:cNvPr id="10" name="Line 140"/>
          <p:cNvSpPr/>
          <p:nvPr/>
        </p:nvSpPr>
        <p:spPr>
          <a:xfrm>
            <a:off x="2148840" y="1737360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Line 141"/>
          <p:cNvSpPr/>
          <p:nvPr/>
        </p:nvSpPr>
        <p:spPr>
          <a:xfrm>
            <a:off x="4041648" y="1737360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Line 142"/>
          <p:cNvSpPr/>
          <p:nvPr/>
        </p:nvSpPr>
        <p:spPr>
          <a:xfrm>
            <a:off x="5934456" y="1737360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Line 143"/>
          <p:cNvSpPr/>
          <p:nvPr/>
        </p:nvSpPr>
        <p:spPr>
          <a:xfrm>
            <a:off x="7827264" y="1737360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Line 144"/>
          <p:cNvSpPr/>
          <p:nvPr/>
        </p:nvSpPr>
        <p:spPr>
          <a:xfrm>
            <a:off x="9720072" y="1737360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Line 145"/>
          <p:cNvSpPr/>
          <p:nvPr/>
        </p:nvSpPr>
        <p:spPr>
          <a:xfrm>
            <a:off x="9720072" y="2971800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Line 146"/>
          <p:cNvSpPr/>
          <p:nvPr/>
        </p:nvSpPr>
        <p:spPr>
          <a:xfrm>
            <a:off x="10812780" y="3429000"/>
            <a:ext cx="0" cy="36576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Node 147"/>
          <p:cNvSpPr txBox="1"/>
          <p:nvPr/>
        </p:nvSpPr>
        <p:spPr>
          <a:xfrm>
            <a:off x="10012680" y="3794760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Schema, units, identity,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timestamp, idempotency checks</a:t>
            </a:r>
            <a:endParaRPr lang="en-US" sz="1300" dirty="0"/>
          </a:p>
        </p:txBody>
      </p:sp>
      <p:sp>
        <p:nvSpPr>
          <p:cNvPr id="18" name="Node 148"/>
          <p:cNvSpPr txBox="1"/>
          <p:nvPr/>
        </p:nvSpPr>
        <p:spPr>
          <a:xfrm>
            <a:off x="8119872" y="3749040"/>
            <a:ext cx="160020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Empirical ML pipeline</a:t>
            </a:r>
            <a:endParaRPr lang="en-US" sz="1200" dirty="0"/>
          </a:p>
        </p:txBody>
      </p:sp>
      <p:sp>
        <p:nvSpPr>
          <p:cNvPr id="19" name="Node 149"/>
          <p:cNvSpPr txBox="1"/>
          <p:nvPr/>
        </p:nvSpPr>
        <p:spPr>
          <a:xfrm>
            <a:off x="8119872" y="4434840"/>
            <a:ext cx="160020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Opt-in physics demo</a:t>
            </a:r>
            <a:endParaRPr lang="en-US" sz="1200" dirty="0"/>
          </a:p>
        </p:txBody>
      </p:sp>
      <p:sp>
        <p:nvSpPr>
          <p:cNvPr id="20" name="Line 150"/>
          <p:cNvSpPr/>
          <p:nvPr/>
        </p:nvSpPr>
        <p:spPr>
          <a:xfrm flipH="1">
            <a:off x="9720072" y="4050792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Line 151"/>
          <p:cNvSpPr/>
          <p:nvPr/>
        </p:nvSpPr>
        <p:spPr>
          <a:xfrm flipH="1">
            <a:off x="9720072" y="4727448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Node 152"/>
          <p:cNvSpPr txBox="1"/>
          <p:nvPr/>
        </p:nvSpPr>
        <p:spPr>
          <a:xfrm>
            <a:off x="6227064" y="3794760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raw telemetry, receipts, history</a:t>
            </a:r>
            <a:endParaRPr lang="en-US" sz="1300" dirty="0"/>
          </a:p>
        </p:txBody>
      </p:sp>
      <p:sp>
        <p:nvSpPr>
          <p:cNvPr id="23" name="Line 153"/>
          <p:cNvSpPr/>
          <p:nvPr/>
        </p:nvSpPr>
        <p:spPr>
          <a:xfrm flipH="1">
            <a:off x="7827264" y="4050792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Line 154"/>
          <p:cNvSpPr/>
          <p:nvPr/>
        </p:nvSpPr>
        <p:spPr>
          <a:xfrm flipH="1">
            <a:off x="7827264" y="4727448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Line 155"/>
          <p:cNvSpPr/>
          <p:nvPr/>
        </p:nvSpPr>
        <p:spPr>
          <a:xfrm>
            <a:off x="10378440" y="4846320"/>
            <a:ext cx="0" cy="320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Line 156"/>
          <p:cNvSpPr/>
          <p:nvPr/>
        </p:nvSpPr>
        <p:spPr>
          <a:xfrm flipH="1">
            <a:off x="7027164" y="5166360"/>
            <a:ext cx="335127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Line 157"/>
          <p:cNvSpPr/>
          <p:nvPr/>
        </p:nvSpPr>
        <p:spPr>
          <a:xfrm flipV="1">
            <a:off x="7027164" y="4846320"/>
            <a:ext cx="0" cy="320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Line 158"/>
          <p:cNvSpPr/>
          <p:nvPr/>
        </p:nvSpPr>
        <p:spPr>
          <a:xfrm flipV="1">
            <a:off x="7027164" y="2194560"/>
            <a:ext cx="0" cy="160020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59"/>
          <p:cNvSpPr txBox="1"/>
          <p:nvPr/>
        </p:nvSpPr>
        <p:spPr>
          <a:xfrm>
            <a:off x="7123176" y="27432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chemeClr val="tx2"/>
                </a:solidFill>
              </a:rPr>
              <a:t>committed receipt ack</a:t>
            </a:r>
            <a:endParaRPr lang="en-US" sz="1050" dirty="0"/>
          </a:p>
        </p:txBody>
      </p:sp>
      <p:sp>
        <p:nvSpPr>
          <p:cNvPr id="30" name="Node 160"/>
          <p:cNvSpPr txBox="1"/>
          <p:nvPr/>
        </p:nvSpPr>
        <p:spPr>
          <a:xfrm>
            <a:off x="4334256" y="3794760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Versioned REST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read APIs</a:t>
            </a:r>
            <a:endParaRPr lang="en-US" sz="1300" dirty="0"/>
          </a:p>
        </p:txBody>
      </p:sp>
      <p:sp>
        <p:nvSpPr>
          <p:cNvPr id="31" name="Node 161"/>
          <p:cNvSpPr txBox="1"/>
          <p:nvPr/>
        </p:nvSpPr>
        <p:spPr>
          <a:xfrm>
            <a:off x="2441448" y="3794760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React + TypeScript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2" name="Line 162"/>
          <p:cNvSpPr/>
          <p:nvPr/>
        </p:nvSpPr>
        <p:spPr>
          <a:xfrm flipH="1">
            <a:off x="5934456" y="4315968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Line 163"/>
          <p:cNvSpPr/>
          <p:nvPr/>
        </p:nvSpPr>
        <p:spPr>
          <a:xfrm flipH="1">
            <a:off x="4041648" y="4315968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</a:t>
            </a:r>
            <a:endParaRPr lang="en-US" sz="3000" dirty="0"/>
          </a:p>
        </p:txBody>
      </p:sp>
      <p:sp>
        <p:nvSpPr>
          <p:cNvPr id="3" name="Node 167"/>
          <p:cNvSpPr txBox="1"/>
          <p:nvPr/>
        </p:nvSpPr>
        <p:spPr>
          <a:xfrm>
            <a:off x="548640" y="1280160"/>
            <a:ext cx="17373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 simulator</a:t>
            </a:r>
            <a:endParaRPr lang="en-US" sz="1300" dirty="0"/>
          </a:p>
        </p:txBody>
      </p:sp>
      <p:sp>
        <p:nvSpPr>
          <p:cNvPr id="4" name="Node 168"/>
          <p:cNvSpPr txBox="1"/>
          <p:nvPr/>
        </p:nvSpPr>
        <p:spPr>
          <a:xfrm>
            <a:off x="548640" y="2240280"/>
            <a:ext cx="17373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Historical CSV replay</a:t>
            </a:r>
            <a:endParaRPr lang="en-US" sz="1300" dirty="0"/>
          </a:p>
        </p:txBody>
      </p:sp>
      <p:sp>
        <p:nvSpPr>
          <p:cNvPr id="5" name="Node 169"/>
          <p:cNvSpPr txBox="1"/>
          <p:nvPr/>
        </p:nvSpPr>
        <p:spPr>
          <a:xfrm>
            <a:off x="548640" y="3200400"/>
            <a:ext cx="1737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Future sensor / SCADA adapter</a:t>
            </a:r>
            <a:endParaRPr lang="en-US" sz="1200" dirty="0"/>
          </a:p>
        </p:txBody>
      </p:sp>
      <p:sp>
        <p:nvSpPr>
          <p:cNvPr id="6" name="Node 170"/>
          <p:cNvSpPr txBox="1"/>
          <p:nvPr/>
        </p:nvSpPr>
        <p:spPr>
          <a:xfrm>
            <a:off x="2468880" y="1280160"/>
            <a:ext cx="2011680" cy="27889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FastAPI backend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Telemetry and batch APIs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MQTT consumer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Canonical validation + idempotent ingestion</a:t>
            </a:r>
            <a:endParaRPr lang="en-US" sz="1500" dirty="0"/>
          </a:p>
        </p:txBody>
      </p:sp>
      <p:sp>
        <p:nvSpPr>
          <p:cNvPr id="7" name="Node 171"/>
          <p:cNvSpPr txBox="1"/>
          <p:nvPr/>
        </p:nvSpPr>
        <p:spPr>
          <a:xfrm>
            <a:off x="4663440" y="1280160"/>
            <a:ext cx="2103120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Empirical analytics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Anomaly, health, maintenance</a:t>
            </a:r>
            <a:endParaRPr lang="en-US" sz="1400" dirty="0"/>
          </a:p>
        </p:txBody>
      </p:sp>
      <p:sp>
        <p:nvSpPr>
          <p:cNvPr id="8" name="Node 172"/>
          <p:cNvSpPr txBox="1"/>
          <p:nvPr/>
        </p:nvSpPr>
        <p:spPr>
          <a:xfrm>
            <a:off x="4663440" y="2743200"/>
            <a:ext cx="2103120" cy="1325880"/>
          </a:xfrm>
          <a:prstGeom prst="roundRect">
            <a:avLst>
              <a:gd name="adj" fmla="val 5517"/>
            </a:avLst>
          </a:prstGeom>
          <a:solidFill>
            <a:schemeClr val="accent3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Controlled synthetic physics 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with 2-D sheet FEM reference</a:t>
            </a:r>
            <a:endParaRPr lang="en-US" sz="1300" dirty="0"/>
          </a:p>
        </p:txBody>
      </p:sp>
      <p:sp>
        <p:nvSpPr>
          <p:cNvPr id="9" name="Node 173"/>
          <p:cNvSpPr txBox="1"/>
          <p:nvPr/>
        </p:nvSpPr>
        <p:spPr>
          <a:xfrm>
            <a:off x="6949440" y="1280160"/>
            <a:ext cx="1280160" cy="278892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10" name="Node 174"/>
          <p:cNvSpPr txBox="1"/>
          <p:nvPr/>
        </p:nvSpPr>
        <p:spPr>
          <a:xfrm>
            <a:off x="8412480" y="1280160"/>
            <a:ext cx="1554480" cy="27889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Read APIs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latest, history, trends, alerts, maintenance, physics</a:t>
            </a:r>
            <a:endParaRPr lang="en-US" sz="1400" dirty="0"/>
          </a:p>
        </p:txBody>
      </p:sp>
      <p:sp>
        <p:nvSpPr>
          <p:cNvPr id="11" name="Node 175"/>
          <p:cNvSpPr txBox="1"/>
          <p:nvPr/>
        </p:nvSpPr>
        <p:spPr>
          <a:xfrm>
            <a:off x="10149840" y="1280160"/>
            <a:ext cx="1490472" cy="2788920"/>
          </a:xfrm>
          <a:prstGeom prst="roundRect">
            <a:avLst>
              <a:gd name="adj" fmla="val 4908"/>
            </a:avLst>
          </a:prstGeom>
          <a:solidFill>
            <a:schemeClr val="accent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React / TS operations console</a:t>
            </a:r>
            <a:endParaRPr lang="en-US" sz="1400" dirty="0"/>
          </a:p>
        </p:txBody>
      </p:sp>
      <p:sp>
        <p:nvSpPr>
          <p:cNvPr id="12" name="Line 176"/>
          <p:cNvSpPr/>
          <p:nvPr/>
        </p:nvSpPr>
        <p:spPr>
          <a:xfrm>
            <a:off x="2286000" y="267004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Line 177"/>
          <p:cNvSpPr/>
          <p:nvPr/>
        </p:nvSpPr>
        <p:spPr>
          <a:xfrm>
            <a:off x="4480560" y="193852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Line 178"/>
          <p:cNvSpPr/>
          <p:nvPr/>
        </p:nvSpPr>
        <p:spPr>
          <a:xfrm>
            <a:off x="4480560" y="340156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Line 179"/>
          <p:cNvSpPr/>
          <p:nvPr/>
        </p:nvSpPr>
        <p:spPr>
          <a:xfrm>
            <a:off x="6766560" y="193852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Line 180"/>
          <p:cNvSpPr/>
          <p:nvPr/>
        </p:nvSpPr>
        <p:spPr>
          <a:xfrm>
            <a:off x="6766560" y="340156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Line 181"/>
          <p:cNvSpPr/>
          <p:nvPr/>
        </p:nvSpPr>
        <p:spPr>
          <a:xfrm>
            <a:off x="8229600" y="267004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Line 182"/>
          <p:cNvSpPr/>
          <p:nvPr/>
        </p:nvSpPr>
        <p:spPr>
          <a:xfrm>
            <a:off x="9966960" y="267004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Pill 183"/>
          <p:cNvSpPr txBox="1"/>
          <p:nvPr/>
        </p:nvSpPr>
        <p:spPr>
          <a:xfrm>
            <a:off x="548640" y="4389120"/>
            <a:ext cx="2020824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React 19 + TypeScript + Vite</a:t>
            </a:r>
            <a:endParaRPr lang="en-US" sz="1200" dirty="0"/>
          </a:p>
        </p:txBody>
      </p:sp>
      <p:sp>
        <p:nvSpPr>
          <p:cNvPr id="20" name="Pill 184"/>
          <p:cNvSpPr txBox="1"/>
          <p:nvPr/>
        </p:nvSpPr>
        <p:spPr>
          <a:xfrm>
            <a:off x="2816352" y="4389120"/>
            <a:ext cx="2020824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FastAPI + Pydantic + SQLAlchemy</a:t>
            </a:r>
            <a:endParaRPr lang="en-US" sz="1200" dirty="0"/>
          </a:p>
        </p:txBody>
      </p:sp>
      <p:sp>
        <p:nvSpPr>
          <p:cNvPr id="21" name="Pill 185"/>
          <p:cNvSpPr txBox="1"/>
          <p:nvPr/>
        </p:nvSpPr>
        <p:spPr>
          <a:xfrm>
            <a:off x="5084064" y="4389120"/>
            <a:ext cx="2020824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NumPy / pandas / SciPy / scikit-learn</a:t>
            </a:r>
            <a:endParaRPr lang="en-US" sz="1200" dirty="0"/>
          </a:p>
        </p:txBody>
      </p:sp>
      <p:sp>
        <p:nvSpPr>
          <p:cNvPr id="22" name="Pill 186"/>
          <p:cNvSpPr txBox="1"/>
          <p:nvPr/>
        </p:nvSpPr>
        <p:spPr>
          <a:xfrm>
            <a:off x="7351776" y="4389120"/>
            <a:ext cx="2020824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pymodbus + Paho MQTT</a:t>
            </a:r>
            <a:endParaRPr lang="en-US" sz="1200" dirty="0"/>
          </a:p>
        </p:txBody>
      </p:sp>
      <p:sp>
        <p:nvSpPr>
          <p:cNvPr id="23" name="Pill 187"/>
          <p:cNvSpPr txBox="1"/>
          <p:nvPr/>
        </p:nvSpPr>
        <p:spPr>
          <a:xfrm>
            <a:off x="9619488" y="4389120"/>
            <a:ext cx="2020824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Mosquitto + Docker Compose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Stack</a:t>
            </a:r>
            <a:endParaRPr lang="en-US" sz="1100" dirty="0"/>
          </a:p>
        </p:txBody>
      </p:sp>
      <p:sp>
        <p:nvSpPr>
          <p:cNvPr id="25" name="Card 188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22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89"/>
          <p:cNvSpPr txBox="1"/>
          <p:nvPr/>
        </p:nvSpPr>
        <p:spPr>
          <a:xfrm>
            <a:off x="822960" y="539496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Empirical ML and physics estimates are distinct. </a:t>
            </a:r>
            <a:r>
              <a:rPr lang="en-US" sz="1400" dirty="0">
                <a:solidFill>
                  <a:schemeClr val="tx1"/>
                </a:solidFill>
              </a:rPr>
              <a:t>The physics demo is a physics-informed analytical branch, not an ML model; the production physics contract may return typed "unavailable" results unless eligibility and configuration are satisfied.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Analytics turn telemetry into explainable signals</a:t>
            </a:r>
            <a:endParaRPr lang="en-US" sz="3000" dirty="0"/>
          </a:p>
        </p:txBody>
      </p:sp>
      <p:sp>
        <p:nvSpPr>
          <p:cNvPr id="3" name="Dot 0"/>
          <p:cNvSpPr/>
          <p:nvPr/>
        </p:nvSpPr>
        <p:spPr>
          <a:xfrm>
            <a:off x="548640" y="1353312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21"/>
          <p:cNvSpPr txBox="1"/>
          <p:nvPr/>
        </p:nvSpPr>
        <p:spPr>
          <a:xfrm>
            <a:off x="960120" y="1280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Loading percentage</a:t>
            </a:r>
            <a:endParaRPr lang="en-US" sz="1500" dirty="0"/>
          </a:p>
        </p:txBody>
      </p:sp>
      <p:sp>
        <p:nvSpPr>
          <p:cNvPr id="5" name="Text 222"/>
          <p:cNvSpPr txBox="1"/>
          <p:nvPr/>
        </p:nvSpPr>
        <p:spPr>
          <a:xfrm>
            <a:off x="96012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Apparent-power utilization</a:t>
            </a:r>
            <a:endParaRPr lang="en-US" sz="1300" dirty="0"/>
          </a:p>
        </p:txBody>
      </p:sp>
      <p:sp>
        <p:nvSpPr>
          <p:cNvPr id="6" name="Dot 1"/>
          <p:cNvSpPr/>
          <p:nvPr/>
        </p:nvSpPr>
        <p:spPr>
          <a:xfrm>
            <a:off x="548640" y="201168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223"/>
          <p:cNvSpPr txBox="1"/>
          <p:nvPr/>
        </p:nvSpPr>
        <p:spPr>
          <a:xfrm>
            <a:off x="960120" y="19385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Thermal model</a:t>
            </a:r>
            <a:endParaRPr lang="en-US" sz="1500" dirty="0"/>
          </a:p>
        </p:txBody>
      </p:sp>
      <p:sp>
        <p:nvSpPr>
          <p:cNvPr id="8" name="Text 224"/>
          <p:cNvSpPr txBox="1"/>
          <p:nvPr/>
        </p:nvSpPr>
        <p:spPr>
          <a:xfrm>
            <a:off x="960120" y="22128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Model temperature and residual</a:t>
            </a:r>
            <a:endParaRPr lang="en-US" sz="1300" dirty="0"/>
          </a:p>
        </p:txBody>
      </p:sp>
      <p:sp>
        <p:nvSpPr>
          <p:cNvPr id="9" name="Dot 2"/>
          <p:cNvSpPr/>
          <p:nvPr/>
        </p:nvSpPr>
        <p:spPr>
          <a:xfrm>
            <a:off x="548640" y="267004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225"/>
          <p:cNvSpPr txBox="1"/>
          <p:nvPr/>
        </p:nvSpPr>
        <p:spPr>
          <a:xfrm>
            <a:off x="960120" y="25968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Anomaly detection</a:t>
            </a:r>
            <a:endParaRPr lang="en-US" sz="1500" dirty="0"/>
          </a:p>
        </p:txBody>
      </p:sp>
      <p:sp>
        <p:nvSpPr>
          <p:cNvPr id="11" name="Text 226"/>
          <p:cNvSpPr txBox="1"/>
          <p:nvPr/>
        </p:nvSpPr>
        <p:spPr>
          <a:xfrm>
            <a:off x="960120" y="28712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Anomaly score and flag</a:t>
            </a:r>
            <a:endParaRPr lang="en-US" sz="1300" dirty="0"/>
          </a:p>
        </p:txBody>
      </p:sp>
      <p:sp>
        <p:nvSpPr>
          <p:cNvPr id="12" name="Dot 3"/>
          <p:cNvSpPr/>
          <p:nvPr/>
        </p:nvSpPr>
        <p:spPr>
          <a:xfrm>
            <a:off x="548640" y="332841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227"/>
          <p:cNvSpPr txBox="1"/>
          <p:nvPr/>
        </p:nvSpPr>
        <p:spPr>
          <a:xfrm>
            <a:off x="960120" y="32552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Health Index 0–100</a:t>
            </a:r>
            <a:endParaRPr lang="en-US" sz="1500" dirty="0"/>
          </a:p>
        </p:txBody>
      </p:sp>
      <p:sp>
        <p:nvSpPr>
          <p:cNvPr id="14" name="Text 228"/>
          <p:cNvSpPr txBox="1"/>
          <p:nvPr/>
        </p:nvSpPr>
        <p:spPr>
          <a:xfrm>
            <a:off x="960120" y="35295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Higher is healthier; component scores and reason codes</a:t>
            </a:r>
            <a:endParaRPr lang="en-US" sz="1300" dirty="0"/>
          </a:p>
        </p:txBody>
      </p:sp>
      <p:sp>
        <p:nvSpPr>
          <p:cNvPr id="15" name="Dot 4"/>
          <p:cNvSpPr/>
          <p:nvPr/>
        </p:nvSpPr>
        <p:spPr>
          <a:xfrm>
            <a:off x="548640" y="398678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229"/>
          <p:cNvSpPr txBox="1"/>
          <p:nvPr/>
        </p:nvSpPr>
        <p:spPr>
          <a:xfrm>
            <a:off x="960120" y="39136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Maintenance priority</a:t>
            </a:r>
            <a:endParaRPr lang="en-US" sz="1500" dirty="0"/>
          </a:p>
        </p:txBody>
      </p:sp>
      <p:sp>
        <p:nvSpPr>
          <p:cNvPr id="17" name="Text 230"/>
          <p:cNvSpPr txBox="1"/>
          <p:nvPr/>
        </p:nvSpPr>
        <p:spPr>
          <a:xfrm>
            <a:off x="960120" y="41879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NORMAL / WATCH / PLAN / URGENT with explanatory recommendation</a:t>
            </a:r>
            <a:endParaRPr lang="en-US" sz="1300" dirty="0"/>
          </a:p>
        </p:txBody>
      </p:sp>
      <p:sp>
        <p:nvSpPr>
          <p:cNvPr id="18" name="Dot 5"/>
          <p:cNvSpPr/>
          <p:nvPr/>
        </p:nvSpPr>
        <p:spPr>
          <a:xfrm>
            <a:off x="548640" y="4645152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231"/>
          <p:cNvSpPr txBox="1"/>
          <p:nvPr/>
        </p:nvSpPr>
        <p:spPr>
          <a:xfrm>
            <a:off x="960120" y="4572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Protection indicators</a:t>
            </a:r>
            <a:endParaRPr lang="en-US" sz="1500" dirty="0"/>
          </a:p>
        </p:txBody>
      </p:sp>
      <p:sp>
        <p:nvSpPr>
          <p:cNvPr id="20" name="Text 232"/>
          <p:cNvSpPr txBox="1"/>
          <p:nvPr/>
        </p:nvSpPr>
        <p:spPr>
          <a:xfrm>
            <a:off x="960120" y="4846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Oil-level deviation and alarm / trip indicators where inputs exist</a:t>
            </a:r>
            <a:endParaRPr lang="en-US" sz="1300" dirty="0"/>
          </a:p>
        </p:txBody>
      </p:sp>
      <p:sp>
        <p:nvSpPr>
          <p:cNvPr id="21" name="Node 233"/>
          <p:cNvSpPr txBox="1"/>
          <p:nvPr/>
        </p:nvSpPr>
        <p:spPr>
          <a:xfrm>
            <a:off x="6766560" y="1280160"/>
            <a:ext cx="487375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Injected abnormal telemetry</a:t>
            </a:r>
            <a:endParaRPr lang="en-US" sz="1500" dirty="0"/>
          </a:p>
        </p:txBody>
      </p:sp>
      <p:sp>
        <p:nvSpPr>
          <p:cNvPr id="22" name="Line 234"/>
          <p:cNvSpPr/>
          <p:nvPr/>
        </p:nvSpPr>
        <p:spPr>
          <a:xfrm>
            <a:off x="9203436" y="2011680"/>
            <a:ext cx="0" cy="2743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Node 235"/>
          <p:cNvSpPr txBox="1"/>
          <p:nvPr/>
        </p:nvSpPr>
        <p:spPr>
          <a:xfrm>
            <a:off x="6766560" y="2286000"/>
            <a:ext cx="487375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Changed loading / thermal / electrical indicators</a:t>
            </a:r>
            <a:endParaRPr lang="en-US" sz="1500" dirty="0"/>
          </a:p>
        </p:txBody>
      </p:sp>
      <p:sp>
        <p:nvSpPr>
          <p:cNvPr id="24" name="Line 236"/>
          <p:cNvSpPr/>
          <p:nvPr/>
        </p:nvSpPr>
        <p:spPr>
          <a:xfrm>
            <a:off x="9203436" y="3017520"/>
            <a:ext cx="0" cy="2743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Node 237"/>
          <p:cNvSpPr txBox="1"/>
          <p:nvPr/>
        </p:nvSpPr>
        <p:spPr>
          <a:xfrm>
            <a:off x="6766560" y="3291840"/>
            <a:ext cx="487375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Health / anomaly reason codes</a:t>
            </a:r>
            <a:endParaRPr lang="en-US" sz="1500" dirty="0"/>
          </a:p>
        </p:txBody>
      </p:sp>
      <p:sp>
        <p:nvSpPr>
          <p:cNvPr id="26" name="Line 238"/>
          <p:cNvSpPr/>
          <p:nvPr/>
        </p:nvSpPr>
        <p:spPr>
          <a:xfrm>
            <a:off x="9203436" y="4023360"/>
            <a:ext cx="0" cy="2743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Node 239"/>
          <p:cNvSpPr txBox="1"/>
          <p:nvPr/>
        </p:nvSpPr>
        <p:spPr>
          <a:xfrm>
            <a:off x="6766560" y="4297680"/>
            <a:ext cx="4873752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 / maintenance context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0079F8-E3B7-C340-4861-8EA1665EC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20465" cy="30635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805FED-5406-EA9F-ED1C-E35B81BBD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2" y="3302750"/>
            <a:ext cx="12027202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86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I</a:t>
            </a:r>
            <a:r>
              <a:rPr lang="en-US" sz="3000" b="1" dirty="0">
                <a:solidFill>
                  <a:schemeClr val="tx1"/>
                </a:solidFill>
              </a:rPr>
              <a:t>ndicators </a:t>
            </a:r>
            <a:r>
              <a:rPr lang="en-US" dirty="0"/>
              <a:t>derived Through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  <a:r>
              <a:rPr lang="en-US" dirty="0"/>
              <a:t>Measurable Parameters</a:t>
            </a:r>
            <a:endParaRPr lang="en-US" sz="3000" dirty="0"/>
          </a:p>
        </p:txBody>
      </p:sp>
      <p:sp>
        <p:nvSpPr>
          <p:cNvPr id="3" name="Card 268"/>
          <p:cNvSpPr/>
          <p:nvPr/>
        </p:nvSpPr>
        <p:spPr>
          <a:xfrm>
            <a:off x="548640" y="1188720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69"/>
          <p:cNvSpPr txBox="1"/>
          <p:nvPr/>
        </p:nvSpPr>
        <p:spPr>
          <a:xfrm>
            <a:off x="73152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Simulated oil-sensor temp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[°C]</a:t>
            </a:r>
            <a:endParaRPr lang="en-US" sz="1400" dirty="0"/>
          </a:p>
        </p:txBody>
      </p:sp>
      <p:sp>
        <p:nvSpPr>
          <p:cNvPr id="5" name="Text 270"/>
          <p:cNvSpPr txBox="1"/>
          <p:nvPr/>
        </p:nvSpPr>
        <p:spPr>
          <a:xfrm>
            <a:off x="3383280" y="118872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Ts(t+Δt) = To(t) + [Ts(t) − To(t)]·e^(−Δt/τs)</a:t>
            </a:r>
            <a:endParaRPr lang="en-US" sz="1200" dirty="0"/>
          </a:p>
        </p:txBody>
      </p:sp>
      <p:sp>
        <p:nvSpPr>
          <p:cNvPr id="7" name="Text 272"/>
          <p:cNvSpPr txBox="1"/>
          <p:nvPr/>
        </p:nvSpPr>
        <p:spPr>
          <a:xfrm>
            <a:off x="8686800" y="1536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Standalone τs = 5 s; full-stack uses a separate 1200 s lag, passed in as input.</a:t>
            </a:r>
            <a:endParaRPr lang="en-US" sz="1050" dirty="0"/>
          </a:p>
        </p:txBody>
      </p:sp>
      <p:sp>
        <p:nvSpPr>
          <p:cNvPr id="8" name="Card 273"/>
          <p:cNvSpPr/>
          <p:nvPr/>
        </p:nvSpPr>
        <p:spPr>
          <a:xfrm>
            <a:off x="548640" y="1956816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274"/>
          <p:cNvSpPr txBox="1"/>
          <p:nvPr/>
        </p:nvSpPr>
        <p:spPr>
          <a:xfrm>
            <a:off x="731520" y="195681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Top-oil temperature estimate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[°C]</a:t>
            </a:r>
            <a:endParaRPr lang="en-US" sz="1400" dirty="0"/>
          </a:p>
        </p:txBody>
      </p:sp>
      <p:sp>
        <p:nvSpPr>
          <p:cNvPr id="10" name="Text 275"/>
          <p:cNvSpPr txBox="1"/>
          <p:nvPr/>
        </p:nvSpPr>
        <p:spPr>
          <a:xfrm>
            <a:off x="3383280" y="195681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T_oil,est = To − 273.15</a:t>
            </a:r>
            <a:endParaRPr lang="en-US" sz="1200" dirty="0"/>
          </a:p>
        </p:txBody>
      </p:sp>
      <p:sp>
        <p:nvSpPr>
          <p:cNvPr id="12" name="Text 277"/>
          <p:cNvSpPr txBox="1"/>
          <p:nvPr/>
        </p:nvSpPr>
        <p:spPr>
          <a:xfrm>
            <a:off x="8686800" y="2304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Oil-node / top-oil proxy from the simplified node model.</a:t>
            </a:r>
            <a:endParaRPr lang="en-US" sz="1050" dirty="0"/>
          </a:p>
        </p:txBody>
      </p:sp>
      <p:sp>
        <p:nvSpPr>
          <p:cNvPr id="13" name="Card 278"/>
          <p:cNvSpPr/>
          <p:nvPr/>
        </p:nvSpPr>
        <p:spPr>
          <a:xfrm>
            <a:off x="548640" y="2724912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279"/>
          <p:cNvSpPr txBox="1"/>
          <p:nvPr/>
        </p:nvSpPr>
        <p:spPr>
          <a:xfrm>
            <a:off x="731520" y="272491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Oil-node temperature rise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[K]</a:t>
            </a:r>
            <a:endParaRPr lang="en-US" sz="1400" dirty="0"/>
          </a:p>
        </p:txBody>
      </p:sp>
      <p:sp>
        <p:nvSpPr>
          <p:cNvPr id="15" name="Text 280"/>
          <p:cNvSpPr txBox="1"/>
          <p:nvPr/>
        </p:nvSpPr>
        <p:spPr>
          <a:xfrm>
            <a:off x="3383280" y="272491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ΔTo = To − Ta</a:t>
            </a:r>
            <a:endParaRPr lang="en-US" sz="1200" dirty="0"/>
          </a:p>
        </p:txBody>
      </p:sp>
      <p:sp>
        <p:nvSpPr>
          <p:cNvPr id="17" name="Text 282"/>
          <p:cNvSpPr txBox="1"/>
          <p:nvPr/>
        </p:nvSpPr>
        <p:spPr>
          <a:xfrm>
            <a:off x="8686800" y="30723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Oil-node rise above the held ambient temperature.</a:t>
            </a:r>
            <a:endParaRPr lang="en-US" sz="1050" dirty="0"/>
          </a:p>
        </p:txBody>
      </p:sp>
      <p:sp>
        <p:nvSpPr>
          <p:cNvPr id="18" name="Card 283"/>
          <p:cNvSpPr/>
          <p:nvPr/>
        </p:nvSpPr>
        <p:spPr>
          <a:xfrm>
            <a:off x="548640" y="349300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284"/>
          <p:cNvSpPr txBox="1"/>
          <p:nvPr/>
        </p:nvSpPr>
        <p:spPr>
          <a:xfrm>
            <a:off x="731520" y="34930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Winding hotspot estimate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[°C]</a:t>
            </a:r>
            <a:endParaRPr lang="en-US" sz="1400" dirty="0"/>
          </a:p>
        </p:txBody>
      </p:sp>
      <p:sp>
        <p:nvSpPr>
          <p:cNvPr id="20" name="Text 285"/>
          <p:cNvSpPr txBox="1"/>
          <p:nvPr/>
        </p:nvSpPr>
        <p:spPr>
          <a:xfrm>
            <a:off x="3383280" y="349300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T_winding,proxy = Tw − 273.15</a:t>
            </a:r>
            <a:endParaRPr lang="en-US" sz="1200" dirty="0"/>
          </a:p>
        </p:txBody>
      </p:sp>
      <p:sp>
        <p:nvSpPr>
          <p:cNvPr id="22" name="Text 287"/>
          <p:cNvSpPr txBox="1"/>
          <p:nvPr/>
        </p:nvSpPr>
        <p:spPr>
          <a:xfrm>
            <a:off x="8686800" y="3840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Winding-node proxy, not the true local maximum hot spot.</a:t>
            </a:r>
            <a:endParaRPr lang="en-US" sz="1050" dirty="0"/>
          </a:p>
        </p:txBody>
      </p:sp>
      <p:sp>
        <p:nvSpPr>
          <p:cNvPr id="23" name="Card 288"/>
          <p:cNvSpPr/>
          <p:nvPr/>
        </p:nvSpPr>
        <p:spPr>
          <a:xfrm>
            <a:off x="548640" y="4261104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89"/>
          <p:cNvSpPr txBox="1"/>
          <p:nvPr/>
        </p:nvSpPr>
        <p:spPr>
          <a:xfrm>
            <a:off x="731520" y="426110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Winding-to-oil gradient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[K]</a:t>
            </a:r>
            <a:endParaRPr lang="en-US" sz="1400" dirty="0"/>
          </a:p>
        </p:txBody>
      </p:sp>
      <p:sp>
        <p:nvSpPr>
          <p:cNvPr id="25" name="Text 290"/>
          <p:cNvSpPr txBox="1"/>
          <p:nvPr/>
        </p:nvSpPr>
        <p:spPr>
          <a:xfrm>
            <a:off x="3383280" y="426110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ΔT_w−o = Tw − To</a:t>
            </a:r>
            <a:endParaRPr lang="en-US" sz="1200" dirty="0"/>
          </a:p>
        </p:txBody>
      </p:sp>
      <p:sp>
        <p:nvSpPr>
          <p:cNvPr id="27" name="Text 292"/>
          <p:cNvSpPr txBox="1"/>
          <p:nvPr/>
        </p:nvSpPr>
        <p:spPr>
          <a:xfrm>
            <a:off x="8686800" y="46085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Gradient between the winding-node proxy and the oil node.</a:t>
            </a:r>
            <a:endParaRPr lang="en-US" sz="1050" dirty="0"/>
          </a:p>
        </p:txBody>
      </p:sp>
      <p:sp>
        <p:nvSpPr>
          <p:cNvPr id="28" name="Card 293"/>
          <p:cNvSpPr/>
          <p:nvPr/>
        </p:nvSpPr>
        <p:spPr>
          <a:xfrm>
            <a:off x="548640" y="5029200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94"/>
          <p:cNvSpPr txBox="1"/>
          <p:nvPr/>
        </p:nvSpPr>
        <p:spPr>
          <a:xfrm>
            <a:off x="731520" y="5029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Total transformer loss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[W]</a:t>
            </a:r>
            <a:endParaRPr lang="en-US" sz="1400" dirty="0"/>
          </a:p>
        </p:txBody>
      </p:sp>
      <p:sp>
        <p:nvSpPr>
          <p:cNvPr id="30" name="Text 295"/>
          <p:cNvSpPr txBox="1"/>
          <p:nvPr/>
        </p:nvSpPr>
        <p:spPr>
          <a:xfrm>
            <a:off x="3383280" y="502920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P_loss = P0 + P_load,rated · (1/3) Σ (Ii / I_rated)²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Indicators derived Through Measurable Parameters</a:t>
            </a:r>
            <a:endParaRPr lang="en-US" sz="3000" dirty="0"/>
          </a:p>
        </p:txBody>
      </p:sp>
      <p:sp>
        <p:nvSpPr>
          <p:cNvPr id="3" name="Card 299"/>
          <p:cNvSpPr/>
          <p:nvPr/>
        </p:nvSpPr>
        <p:spPr>
          <a:xfrm>
            <a:off x="548640" y="1188720"/>
            <a:ext cx="11091672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300"/>
          <p:cNvSpPr txBox="1"/>
          <p:nvPr/>
        </p:nvSpPr>
        <p:spPr>
          <a:xfrm>
            <a:off x="731520" y="118872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Aging acceleration factor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[unitless]</a:t>
            </a:r>
            <a:endParaRPr lang="en-US" sz="1400" dirty="0"/>
          </a:p>
        </p:txBody>
      </p:sp>
      <p:sp>
        <p:nvSpPr>
          <p:cNvPr id="5" name="Text 301"/>
          <p:cNvSpPr txBox="1"/>
          <p:nvPr/>
        </p:nvSpPr>
        <p:spPr>
          <a:xfrm>
            <a:off x="3383280" y="1188720"/>
            <a:ext cx="5074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F_age = exp((Tw − 310 K) / 20 K)</a:t>
            </a:r>
            <a:endParaRPr lang="en-US" sz="1300" dirty="0"/>
          </a:p>
        </p:txBody>
      </p:sp>
      <p:sp>
        <p:nvSpPr>
          <p:cNvPr id="7" name="Text 303"/>
          <p:cNvSpPr txBox="1"/>
          <p:nvPr/>
        </p:nvSpPr>
        <p:spPr>
          <a:xfrm>
            <a:off x="8686800" y="153619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The 310 K reference and 20 K scale are invented for the demo; not an IEEE/IEC ageing equation or insulation-life truth.</a:t>
            </a:r>
            <a:endParaRPr lang="en-US" sz="1100" dirty="0"/>
          </a:p>
        </p:txBody>
      </p:sp>
      <p:sp>
        <p:nvSpPr>
          <p:cNvPr id="8" name="Card 304"/>
          <p:cNvSpPr/>
          <p:nvPr/>
        </p:nvSpPr>
        <p:spPr>
          <a:xfrm>
            <a:off x="548640" y="2304288"/>
            <a:ext cx="11091672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05"/>
          <p:cNvSpPr txBox="1"/>
          <p:nvPr/>
        </p:nvSpPr>
        <p:spPr>
          <a:xfrm>
            <a:off x="731520" y="230428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Equivalent aging hours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[h]</a:t>
            </a:r>
            <a:endParaRPr lang="en-US" sz="1400" dirty="0"/>
          </a:p>
        </p:txBody>
      </p:sp>
      <p:sp>
        <p:nvSpPr>
          <p:cNvPr id="10" name="Text 306"/>
          <p:cNvSpPr txBox="1"/>
          <p:nvPr/>
        </p:nvSpPr>
        <p:spPr>
          <a:xfrm>
            <a:off x="3383280" y="2304288"/>
            <a:ext cx="5074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H_eq,new = H_eq,old + (F_prev + F_curr)/2 · Δt/3600</a:t>
            </a:r>
            <a:endParaRPr lang="en-US" sz="1300" dirty="0"/>
          </a:p>
        </p:txBody>
      </p:sp>
      <p:sp>
        <p:nvSpPr>
          <p:cNvPr id="12" name="Text 308"/>
          <p:cNvSpPr txBox="1"/>
          <p:nvPr/>
        </p:nvSpPr>
        <p:spPr>
          <a:xfrm>
            <a:off x="8686800" y="26517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Trapezoidal integration over contiguous synthetic history, Δt in seconds. H = 0 means no supported history; not Remaining Useful Life.</a:t>
            </a:r>
            <a:endParaRPr lang="en-US" sz="1100" dirty="0"/>
          </a:p>
        </p:txBody>
      </p:sp>
      <p:sp>
        <p:nvSpPr>
          <p:cNvPr id="13" name="Card 309"/>
          <p:cNvSpPr/>
          <p:nvPr/>
        </p:nvSpPr>
        <p:spPr>
          <a:xfrm>
            <a:off x="548640" y="3419856"/>
            <a:ext cx="11091672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310"/>
          <p:cNvSpPr txBox="1"/>
          <p:nvPr/>
        </p:nvSpPr>
        <p:spPr>
          <a:xfrm>
            <a:off x="731520" y="341985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FEM reference temperature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[°C or K]</a:t>
            </a:r>
            <a:endParaRPr lang="en-US" sz="1400" dirty="0"/>
          </a:p>
        </p:txBody>
      </p:sp>
      <p:sp>
        <p:nvSpPr>
          <p:cNvPr id="15" name="Text 311"/>
          <p:cNvSpPr txBox="1"/>
          <p:nvPr/>
        </p:nvSpPr>
        <p:spPr>
          <a:xfrm>
            <a:off x="3383280" y="3419856"/>
            <a:ext cx="5074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T_FEM,mean = (1/A) ∫_A Tw(x,y) dA</a:t>
            </a:r>
            <a:endParaRPr lang="en-US" sz="1300" dirty="0"/>
          </a:p>
        </p:txBody>
      </p:sp>
      <p:sp>
        <p:nvSpPr>
          <p:cNvPr id="17" name="Text 313"/>
          <p:cNvSpPr txBox="1"/>
          <p:nvPr/>
        </p:nvSpPr>
        <p:spPr>
          <a:xfrm>
            <a:off x="8686800" y="37673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Area-average winding-sheet temperature of the 2-D two-sheet synthetic FEM; not the maximum point, not a measurement.</a:t>
            </a:r>
            <a:endParaRPr lang="en-US" sz="1100" dirty="0"/>
          </a:p>
        </p:txBody>
      </p:sp>
      <p:sp>
        <p:nvSpPr>
          <p:cNvPr id="18" name="Card 314"/>
          <p:cNvSpPr/>
          <p:nvPr/>
        </p:nvSpPr>
        <p:spPr>
          <a:xfrm>
            <a:off x="548640" y="4535424"/>
            <a:ext cx="11091672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315"/>
          <p:cNvSpPr txBox="1"/>
          <p:nvPr/>
        </p:nvSpPr>
        <p:spPr>
          <a:xfrm>
            <a:off x="731520" y="4535424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Estimator-vs-FEM difference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[K]</a:t>
            </a:r>
            <a:endParaRPr lang="en-US" sz="1400" dirty="0"/>
          </a:p>
        </p:txBody>
      </p:sp>
      <p:sp>
        <p:nvSpPr>
          <p:cNvPr id="20" name="Text 316"/>
          <p:cNvSpPr txBox="1"/>
          <p:nvPr/>
        </p:nvSpPr>
        <p:spPr>
          <a:xfrm>
            <a:off x="3383280" y="4535424"/>
            <a:ext cx="5074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ΔT_est−FEM = T_winding,proxy − T_FEM,mean</a:t>
            </a:r>
            <a:endParaRPr lang="en-US" sz="1300" dirty="0"/>
          </a:p>
        </p:txBody>
      </p:sp>
      <p:sp>
        <p:nvSpPr>
          <p:cNvPr id="22" name="Text 318"/>
          <p:cNvSpPr txBox="1"/>
          <p:nvPr/>
        </p:nvSpPr>
        <p:spPr>
          <a:xfrm>
            <a:off x="8686800" y="48828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Matched mean / proxy under the same forcing; near zero tests mean/energy consistency, not spatial hot-spot accuracy.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9CD115-C081-F52A-AED3-D7BD7A7BE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7022"/>
            <a:ext cx="12192000" cy="38255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B820A0-66FC-D1FB-9792-08BE2CB40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57748" cy="371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880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Demonstration: controlled fault scenarios</a:t>
            </a:r>
            <a:endParaRPr lang="en-US" sz="3000" dirty="0"/>
          </a:p>
        </p:txBody>
      </p:sp>
      <p:sp>
        <p:nvSpPr>
          <p:cNvPr id="3" name="Card 345"/>
          <p:cNvSpPr/>
          <p:nvPr/>
        </p:nvSpPr>
        <p:spPr>
          <a:xfrm>
            <a:off x="548640" y="1280160"/>
            <a:ext cx="2020824" cy="246888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Num 346"/>
          <p:cNvSpPr txBox="1"/>
          <p:nvPr/>
        </p:nvSpPr>
        <p:spPr>
          <a:xfrm>
            <a:off x="713232" y="144475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47"/>
          <p:cNvSpPr txBox="1"/>
          <p:nvPr/>
        </p:nvSpPr>
        <p:spPr>
          <a:xfrm>
            <a:off x="713232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Healthy baseline</a:t>
            </a:r>
            <a:endParaRPr lang="en-US" sz="1500" dirty="0"/>
          </a:p>
        </p:txBody>
      </p:sp>
      <p:sp>
        <p:nvSpPr>
          <p:cNvPr id="6" name="Bar 0-0"/>
          <p:cNvSpPr/>
          <p:nvPr/>
        </p:nvSpPr>
        <p:spPr>
          <a:xfrm>
            <a:off x="731520" y="2670048"/>
            <a:ext cx="182880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Bar 0-1"/>
          <p:cNvSpPr/>
          <p:nvPr/>
        </p:nvSpPr>
        <p:spPr>
          <a:xfrm>
            <a:off x="1005840" y="2657246"/>
            <a:ext cx="182880" cy="26883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Bar 0-2"/>
          <p:cNvSpPr/>
          <p:nvPr/>
        </p:nvSpPr>
        <p:spPr>
          <a:xfrm>
            <a:off x="1280160" y="2670048"/>
            <a:ext cx="182880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Bar 0-3"/>
          <p:cNvSpPr/>
          <p:nvPr/>
        </p:nvSpPr>
        <p:spPr>
          <a:xfrm>
            <a:off x="1554480" y="2663647"/>
            <a:ext cx="182880" cy="262433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Bar 0-4"/>
          <p:cNvSpPr/>
          <p:nvPr/>
        </p:nvSpPr>
        <p:spPr>
          <a:xfrm>
            <a:off x="1828800" y="2670048"/>
            <a:ext cx="182880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Bar 0-5"/>
          <p:cNvSpPr/>
          <p:nvPr/>
        </p:nvSpPr>
        <p:spPr>
          <a:xfrm>
            <a:off x="2103120" y="2657246"/>
            <a:ext cx="182880" cy="26883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348"/>
          <p:cNvSpPr txBox="1"/>
          <p:nvPr/>
        </p:nvSpPr>
        <p:spPr>
          <a:xfrm>
            <a:off x="713232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Reference behaviour</a:t>
            </a:r>
            <a:endParaRPr lang="en-US" sz="1200" dirty="0"/>
          </a:p>
        </p:txBody>
      </p:sp>
      <p:sp>
        <p:nvSpPr>
          <p:cNvPr id="13" name="Card 349"/>
          <p:cNvSpPr/>
          <p:nvPr/>
        </p:nvSpPr>
        <p:spPr>
          <a:xfrm>
            <a:off x="2816352" y="1280160"/>
            <a:ext cx="2020824" cy="246888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Num 350"/>
          <p:cNvSpPr txBox="1"/>
          <p:nvPr/>
        </p:nvSpPr>
        <p:spPr>
          <a:xfrm>
            <a:off x="2980944" y="144475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351"/>
          <p:cNvSpPr txBox="1"/>
          <p:nvPr/>
        </p:nvSpPr>
        <p:spPr>
          <a:xfrm>
            <a:off x="2980944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Overload</a:t>
            </a:r>
            <a:endParaRPr lang="en-US" sz="1500" dirty="0"/>
          </a:p>
        </p:txBody>
      </p:sp>
      <p:sp>
        <p:nvSpPr>
          <p:cNvPr id="16" name="Bar 1-0"/>
          <p:cNvSpPr/>
          <p:nvPr/>
        </p:nvSpPr>
        <p:spPr>
          <a:xfrm>
            <a:off x="2999232" y="2734056"/>
            <a:ext cx="182880" cy="19202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Bar 1-1"/>
          <p:cNvSpPr/>
          <p:nvPr/>
        </p:nvSpPr>
        <p:spPr>
          <a:xfrm>
            <a:off x="3273552" y="2670048"/>
            <a:ext cx="182880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Bar 1-2"/>
          <p:cNvSpPr/>
          <p:nvPr/>
        </p:nvSpPr>
        <p:spPr>
          <a:xfrm>
            <a:off x="3547872" y="2606040"/>
            <a:ext cx="182880" cy="3200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Bar 1-3"/>
          <p:cNvSpPr/>
          <p:nvPr/>
        </p:nvSpPr>
        <p:spPr>
          <a:xfrm>
            <a:off x="3822192" y="2510028"/>
            <a:ext cx="182880" cy="41605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Bar 1-4"/>
          <p:cNvSpPr/>
          <p:nvPr/>
        </p:nvSpPr>
        <p:spPr>
          <a:xfrm>
            <a:off x="4096512" y="2414016"/>
            <a:ext cx="182880" cy="5120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Bar 1-5"/>
          <p:cNvSpPr/>
          <p:nvPr/>
        </p:nvSpPr>
        <p:spPr>
          <a:xfrm>
            <a:off x="4370832" y="2318004"/>
            <a:ext cx="182880" cy="608076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352"/>
          <p:cNvSpPr txBox="1"/>
          <p:nvPr/>
        </p:nvSpPr>
        <p:spPr>
          <a:xfrm>
            <a:off x="2980944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Loading rises; thermal indicators follow</a:t>
            </a:r>
            <a:endParaRPr lang="en-US" sz="1200" dirty="0"/>
          </a:p>
        </p:txBody>
      </p:sp>
      <p:sp>
        <p:nvSpPr>
          <p:cNvPr id="23" name="Card 353"/>
          <p:cNvSpPr/>
          <p:nvPr/>
        </p:nvSpPr>
        <p:spPr>
          <a:xfrm>
            <a:off x="5084064" y="1280160"/>
            <a:ext cx="2020824" cy="246888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Num 354"/>
          <p:cNvSpPr txBox="1"/>
          <p:nvPr/>
        </p:nvSpPr>
        <p:spPr>
          <a:xfrm>
            <a:off x="5248656" y="144475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355"/>
          <p:cNvSpPr txBox="1"/>
          <p:nvPr/>
        </p:nvSpPr>
        <p:spPr>
          <a:xfrm>
            <a:off x="5248656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Thermal stress</a:t>
            </a:r>
            <a:endParaRPr lang="en-US" sz="1500" dirty="0"/>
          </a:p>
        </p:txBody>
      </p:sp>
      <p:sp>
        <p:nvSpPr>
          <p:cNvPr id="26" name="Bar 2-0"/>
          <p:cNvSpPr/>
          <p:nvPr/>
        </p:nvSpPr>
        <p:spPr>
          <a:xfrm>
            <a:off x="5266944" y="2734056"/>
            <a:ext cx="182880" cy="19202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Bar 2-1"/>
          <p:cNvSpPr/>
          <p:nvPr/>
        </p:nvSpPr>
        <p:spPr>
          <a:xfrm>
            <a:off x="5541264" y="2721254"/>
            <a:ext cx="182880" cy="20482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Bar 2-2"/>
          <p:cNvSpPr/>
          <p:nvPr/>
        </p:nvSpPr>
        <p:spPr>
          <a:xfrm>
            <a:off x="5815584" y="2702052"/>
            <a:ext cx="182880" cy="22402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Bar 2-3"/>
          <p:cNvSpPr/>
          <p:nvPr/>
        </p:nvSpPr>
        <p:spPr>
          <a:xfrm>
            <a:off x="6089904" y="2542032"/>
            <a:ext cx="18288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Bar 2-4"/>
          <p:cNvSpPr/>
          <p:nvPr/>
        </p:nvSpPr>
        <p:spPr>
          <a:xfrm>
            <a:off x="6364224" y="2382012"/>
            <a:ext cx="182880" cy="54406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Bar 2-5"/>
          <p:cNvSpPr/>
          <p:nvPr/>
        </p:nvSpPr>
        <p:spPr>
          <a:xfrm>
            <a:off x="6638544" y="2286000"/>
            <a:ext cx="182880" cy="6400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56"/>
          <p:cNvSpPr txBox="1"/>
          <p:nvPr/>
        </p:nvSpPr>
        <p:spPr>
          <a:xfrm>
            <a:off x="5248656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Rapid oil-temperature rise</a:t>
            </a:r>
            <a:endParaRPr lang="en-US" sz="1200" dirty="0"/>
          </a:p>
        </p:txBody>
      </p:sp>
      <p:sp>
        <p:nvSpPr>
          <p:cNvPr id="33" name="Card 357"/>
          <p:cNvSpPr/>
          <p:nvPr/>
        </p:nvSpPr>
        <p:spPr>
          <a:xfrm>
            <a:off x="7351776" y="1280160"/>
            <a:ext cx="2020824" cy="246888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Num 358"/>
          <p:cNvSpPr txBox="1"/>
          <p:nvPr/>
        </p:nvSpPr>
        <p:spPr>
          <a:xfrm>
            <a:off x="7516368" y="144475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59"/>
          <p:cNvSpPr txBox="1"/>
          <p:nvPr/>
        </p:nvSpPr>
        <p:spPr>
          <a:xfrm>
            <a:off x="7516368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Current imbalance</a:t>
            </a:r>
            <a:endParaRPr lang="en-US" sz="1500" dirty="0"/>
          </a:p>
        </p:txBody>
      </p:sp>
      <p:sp>
        <p:nvSpPr>
          <p:cNvPr id="36" name="Bar 3-0"/>
          <p:cNvSpPr/>
          <p:nvPr/>
        </p:nvSpPr>
        <p:spPr>
          <a:xfrm>
            <a:off x="7534656" y="2350008"/>
            <a:ext cx="182880" cy="57607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Bar 3-1"/>
          <p:cNvSpPr/>
          <p:nvPr/>
        </p:nvSpPr>
        <p:spPr>
          <a:xfrm>
            <a:off x="7808976" y="2574036"/>
            <a:ext cx="182880" cy="35204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Bar 3-2"/>
          <p:cNvSpPr/>
          <p:nvPr/>
        </p:nvSpPr>
        <p:spPr>
          <a:xfrm>
            <a:off x="8083296" y="2478024"/>
            <a:ext cx="182880" cy="44805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Bar 3-3"/>
          <p:cNvSpPr/>
          <p:nvPr/>
        </p:nvSpPr>
        <p:spPr>
          <a:xfrm>
            <a:off x="8357616" y="2702052"/>
            <a:ext cx="182880" cy="224028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60"/>
          <p:cNvSpPr txBox="1"/>
          <p:nvPr/>
        </p:nvSpPr>
        <p:spPr>
          <a:xfrm>
            <a:off x="7516368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Phase currents diverge; neutral current rises</a:t>
            </a:r>
            <a:endParaRPr lang="en-US" sz="1200" dirty="0"/>
          </a:p>
        </p:txBody>
      </p:sp>
      <p:sp>
        <p:nvSpPr>
          <p:cNvPr id="41" name="Card 361"/>
          <p:cNvSpPr/>
          <p:nvPr/>
        </p:nvSpPr>
        <p:spPr>
          <a:xfrm>
            <a:off x="9619488" y="1280160"/>
            <a:ext cx="2020824" cy="2468880"/>
          </a:xfrm>
          <a:prstGeom prst="roundRect">
            <a:avLst>
              <a:gd name="adj" fmla="val 4525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2" name="Num 362"/>
          <p:cNvSpPr txBox="1"/>
          <p:nvPr/>
        </p:nvSpPr>
        <p:spPr>
          <a:xfrm>
            <a:off x="9784080" y="1444752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Text 363"/>
          <p:cNvSpPr txBox="1"/>
          <p:nvPr/>
        </p:nvSpPr>
        <p:spPr>
          <a:xfrm>
            <a:off x="978408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Low oil level or alarm / trip</a:t>
            </a:r>
            <a:endParaRPr lang="en-US" sz="1500" dirty="0"/>
          </a:p>
        </p:txBody>
      </p:sp>
      <p:sp>
        <p:nvSpPr>
          <p:cNvPr id="44" name="Bar 4-0"/>
          <p:cNvSpPr/>
          <p:nvPr/>
        </p:nvSpPr>
        <p:spPr>
          <a:xfrm>
            <a:off x="9802368" y="2350008"/>
            <a:ext cx="182880" cy="57607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Bar 4-1"/>
          <p:cNvSpPr/>
          <p:nvPr/>
        </p:nvSpPr>
        <p:spPr>
          <a:xfrm>
            <a:off x="10076688" y="2382012"/>
            <a:ext cx="182880" cy="54406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Bar 4-2"/>
          <p:cNvSpPr/>
          <p:nvPr/>
        </p:nvSpPr>
        <p:spPr>
          <a:xfrm>
            <a:off x="10351008" y="2478024"/>
            <a:ext cx="182880" cy="44805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Bar 4-3"/>
          <p:cNvSpPr/>
          <p:nvPr/>
        </p:nvSpPr>
        <p:spPr>
          <a:xfrm>
            <a:off x="10625328" y="2606040"/>
            <a:ext cx="182880" cy="3200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Bar 4-4"/>
          <p:cNvSpPr/>
          <p:nvPr/>
        </p:nvSpPr>
        <p:spPr>
          <a:xfrm>
            <a:off x="10899648" y="2734056"/>
            <a:ext cx="182880" cy="19202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Bar 4-5"/>
          <p:cNvSpPr/>
          <p:nvPr/>
        </p:nvSpPr>
        <p:spPr>
          <a:xfrm>
            <a:off x="11173968" y="2734056"/>
            <a:ext cx="182880" cy="19202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364"/>
          <p:cNvSpPr txBox="1"/>
          <p:nvPr/>
        </p:nvSpPr>
        <p:spPr>
          <a:xfrm>
            <a:off x="978408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Optional, when the field is present</a:t>
            </a:r>
            <a:endParaRPr lang="en-US" sz="1200" dirty="0"/>
          </a:p>
        </p:txBody>
      </p:sp>
      <p:sp>
        <p:nvSpPr>
          <p:cNvPr id="51" name="Node 365"/>
          <p:cNvSpPr txBox="1"/>
          <p:nvPr/>
        </p:nvSpPr>
        <p:spPr>
          <a:xfrm>
            <a:off x="548640" y="4114800"/>
            <a:ext cx="169621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Scenario injection</a:t>
            </a:r>
            <a:endParaRPr lang="en-US" sz="1300" dirty="0"/>
          </a:p>
        </p:txBody>
      </p:sp>
      <p:sp>
        <p:nvSpPr>
          <p:cNvPr id="52" name="Line 366"/>
          <p:cNvSpPr/>
          <p:nvPr/>
        </p:nvSpPr>
        <p:spPr>
          <a:xfrm>
            <a:off x="2244852" y="4663440"/>
            <a:ext cx="19293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3" name="Node 367"/>
          <p:cNvSpPr txBox="1"/>
          <p:nvPr/>
        </p:nvSpPr>
        <p:spPr>
          <a:xfrm>
            <a:off x="2437790" y="4114800"/>
            <a:ext cx="169621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Coherent telemetry change</a:t>
            </a:r>
            <a:endParaRPr lang="en-US" sz="1300" dirty="0"/>
          </a:p>
        </p:txBody>
      </p:sp>
      <p:sp>
        <p:nvSpPr>
          <p:cNvPr id="54" name="Line 368"/>
          <p:cNvSpPr/>
          <p:nvPr/>
        </p:nvSpPr>
        <p:spPr>
          <a:xfrm>
            <a:off x="4134002" y="4663440"/>
            <a:ext cx="19293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5" name="Node 369"/>
          <p:cNvSpPr txBox="1"/>
          <p:nvPr/>
        </p:nvSpPr>
        <p:spPr>
          <a:xfrm>
            <a:off x="4326941" y="4114800"/>
            <a:ext cx="169621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Ingestion</a:t>
            </a:r>
            <a:endParaRPr lang="en-US" sz="1300" dirty="0"/>
          </a:p>
        </p:txBody>
      </p:sp>
      <p:sp>
        <p:nvSpPr>
          <p:cNvPr id="56" name="Line 370"/>
          <p:cNvSpPr/>
          <p:nvPr/>
        </p:nvSpPr>
        <p:spPr>
          <a:xfrm>
            <a:off x="6023153" y="4663440"/>
            <a:ext cx="19293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7" name="Node 371"/>
          <p:cNvSpPr txBox="1"/>
          <p:nvPr/>
        </p:nvSpPr>
        <p:spPr>
          <a:xfrm>
            <a:off x="6216091" y="4114800"/>
            <a:ext cx="169621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Analytics and eligible synthetic physics</a:t>
            </a:r>
            <a:endParaRPr lang="en-US" sz="1300" dirty="0"/>
          </a:p>
        </p:txBody>
      </p:sp>
      <p:sp>
        <p:nvSpPr>
          <p:cNvPr id="58" name="Line 372"/>
          <p:cNvSpPr/>
          <p:nvPr/>
        </p:nvSpPr>
        <p:spPr>
          <a:xfrm>
            <a:off x="7912303" y="4663440"/>
            <a:ext cx="19293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9" name="Node 373"/>
          <p:cNvSpPr txBox="1"/>
          <p:nvPr/>
        </p:nvSpPr>
        <p:spPr>
          <a:xfrm>
            <a:off x="8105242" y="4114800"/>
            <a:ext cx="169621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Status, trend, alerts, reason codes</a:t>
            </a:r>
            <a:endParaRPr lang="en-US" sz="1300" dirty="0"/>
          </a:p>
        </p:txBody>
      </p:sp>
      <p:sp>
        <p:nvSpPr>
          <p:cNvPr id="60" name="Line 374"/>
          <p:cNvSpPr/>
          <p:nvPr/>
        </p:nvSpPr>
        <p:spPr>
          <a:xfrm>
            <a:off x="9801454" y="4663440"/>
            <a:ext cx="19293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1" name="Node 375"/>
          <p:cNvSpPr txBox="1"/>
          <p:nvPr/>
        </p:nvSpPr>
        <p:spPr>
          <a:xfrm>
            <a:off x="9994392" y="4114800"/>
            <a:ext cx="1696212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Maintenance priority and recommendation</a:t>
            </a:r>
            <a:endParaRPr lang="en-US" sz="130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3C1548-635C-2326-1160-8E59DEDC7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7283029" cy="27618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9D9872-1CEC-3663-3608-82BE5F47E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3828"/>
            <a:ext cx="12192000" cy="3984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86E330-009B-9A1A-1DAD-CD5BE0DC4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691" y="0"/>
            <a:ext cx="5112566" cy="32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057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B5F7A10-541C-5DED-A9E9-DC68995B82A4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10896"/>
            <a:ext cx="110916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Scaling the twin dashboard</a:t>
            </a:r>
            <a:endParaRPr lang="en-US" sz="3000" dirty="0"/>
          </a:p>
        </p:txBody>
      </p:sp>
      <p:sp>
        <p:nvSpPr>
          <p:cNvPr id="5" name="Card 2">
            <a:extLst>
              <a:ext uri="{FF2B5EF4-FFF2-40B4-BE49-F238E27FC236}">
                <a16:creationId xmlns:a16="http://schemas.microsoft.com/office/drawing/2014/main" id="{B41CA480-6A90-7A7C-022A-3936FAF03717}"/>
              </a:ext>
            </a:extLst>
          </p:cNvPr>
          <p:cNvSpPr/>
          <p:nvPr/>
        </p:nvSpPr>
        <p:spPr>
          <a:xfrm>
            <a:off x="548640" y="1691640"/>
            <a:ext cx="5458968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Num 3">
            <a:extLst>
              <a:ext uri="{FF2B5EF4-FFF2-40B4-BE49-F238E27FC236}">
                <a16:creationId xmlns:a16="http://schemas.microsoft.com/office/drawing/2014/main" id="{563EC6B8-6119-37AC-F76D-B47D0F07EE33}"/>
              </a:ext>
            </a:extLst>
          </p:cNvPr>
          <p:cNvSpPr txBox="1"/>
          <p:nvPr/>
        </p:nvSpPr>
        <p:spPr>
          <a:xfrm>
            <a:off x="777240" y="187452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505479E-FC63-55BB-AA71-B4F24DD57D89}"/>
              </a:ext>
            </a:extLst>
          </p:cNvPr>
          <p:cNvSpPr txBox="1"/>
          <p:nvPr/>
        </p:nvSpPr>
        <p:spPr>
          <a:xfrm>
            <a:off x="1371600" y="1874520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Pressure and oil-system monitoring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81AA1B1-DA1E-14B6-13AC-82EBC45D3751}"/>
              </a:ext>
            </a:extLst>
          </p:cNvPr>
          <p:cNvSpPr txBox="1"/>
          <p:nvPr/>
        </p:nvSpPr>
        <p:spPr>
          <a:xfrm>
            <a:off x="822960" y="2377440"/>
            <a:ext cx="4910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</a:rPr>
              <a:t>Tank / relief pressure and oil-system behaviour once real sensors exist. Fields stay null until then.</a:t>
            </a:r>
            <a:endParaRPr lang="en-US" sz="1350" dirty="0"/>
          </a:p>
        </p:txBody>
      </p:sp>
      <p:sp>
        <p:nvSpPr>
          <p:cNvPr id="9" name="Card 6">
            <a:extLst>
              <a:ext uri="{FF2B5EF4-FFF2-40B4-BE49-F238E27FC236}">
                <a16:creationId xmlns:a16="http://schemas.microsoft.com/office/drawing/2014/main" id="{F42094AE-33FE-E9BD-C467-67B9A8193736}"/>
              </a:ext>
            </a:extLst>
          </p:cNvPr>
          <p:cNvSpPr/>
          <p:nvPr/>
        </p:nvSpPr>
        <p:spPr>
          <a:xfrm>
            <a:off x="548640" y="3017520"/>
            <a:ext cx="545896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Num 7">
            <a:extLst>
              <a:ext uri="{FF2B5EF4-FFF2-40B4-BE49-F238E27FC236}">
                <a16:creationId xmlns:a16="http://schemas.microsoft.com/office/drawing/2014/main" id="{B99EDDFC-5DA6-EB5C-7ED0-4DAF5FAE6545}"/>
              </a:ext>
            </a:extLst>
          </p:cNvPr>
          <p:cNvSpPr txBox="1"/>
          <p:nvPr/>
        </p:nvSpPr>
        <p:spPr>
          <a:xfrm>
            <a:off x="777240" y="32004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D544637-11C0-AC9B-8792-334EC61772BC}"/>
              </a:ext>
            </a:extLst>
          </p:cNvPr>
          <p:cNvSpPr txBox="1"/>
          <p:nvPr/>
        </p:nvSpPr>
        <p:spPr>
          <a:xfrm>
            <a:off x="1371600" y="3200400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Cooling-system effectiveness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D8E6684-4B14-72B2-A451-A20CE35287C0}"/>
              </a:ext>
            </a:extLst>
          </p:cNvPr>
          <p:cNvSpPr txBox="1"/>
          <p:nvPr/>
        </p:nvSpPr>
        <p:spPr>
          <a:xfrm>
            <a:off x="822960" y="3703320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</a:rPr>
              <a:t>Compare observed oil temperature with the thermal model at the same load; a growing residual is a candidate cooling indicator.</a:t>
            </a:r>
            <a:endParaRPr lang="en-US" sz="1350" dirty="0"/>
          </a:p>
        </p:txBody>
      </p:sp>
      <p:sp>
        <p:nvSpPr>
          <p:cNvPr id="13" name="Card 10">
            <a:extLst>
              <a:ext uri="{FF2B5EF4-FFF2-40B4-BE49-F238E27FC236}">
                <a16:creationId xmlns:a16="http://schemas.microsoft.com/office/drawing/2014/main" id="{EC667C61-9E3D-56C4-038F-801492F46759}"/>
              </a:ext>
            </a:extLst>
          </p:cNvPr>
          <p:cNvSpPr/>
          <p:nvPr/>
        </p:nvSpPr>
        <p:spPr>
          <a:xfrm>
            <a:off x="548640" y="4480560"/>
            <a:ext cx="5458968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Num 11">
            <a:extLst>
              <a:ext uri="{FF2B5EF4-FFF2-40B4-BE49-F238E27FC236}">
                <a16:creationId xmlns:a16="http://schemas.microsoft.com/office/drawing/2014/main" id="{6FD61D2B-2248-E75D-FF39-4373CE749872}"/>
              </a:ext>
            </a:extLst>
          </p:cNvPr>
          <p:cNvSpPr txBox="1"/>
          <p:nvPr/>
        </p:nvSpPr>
        <p:spPr>
          <a:xfrm>
            <a:off x="777240" y="46634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3360F15-4E92-4236-F6F7-C2C157055A47}"/>
              </a:ext>
            </a:extLst>
          </p:cNvPr>
          <p:cNvSpPr txBox="1"/>
          <p:nvPr/>
        </p:nvSpPr>
        <p:spPr>
          <a:xfrm>
            <a:off x="1371600" y="4663440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Advanced electrical health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F4913FF-EE20-8A51-6E66-047BDC57A2A1}"/>
              </a:ext>
            </a:extLst>
          </p:cNvPr>
          <p:cNvSpPr txBox="1"/>
          <p:nvPr/>
        </p:nvSpPr>
        <p:spPr>
          <a:xfrm>
            <a:off x="822960" y="5120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chemeClr val="tx2"/>
                </a:solidFill>
              </a:rPr>
              <a:t>Expand beyond basic current and voltage monitoring:</a:t>
            </a:r>
            <a:endParaRPr lang="en-US" sz="13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D2EC0D1-5407-29A0-AEFB-6AADA6C1D318}"/>
              </a:ext>
            </a:extLst>
          </p:cNvPr>
          <p:cNvSpPr txBox="1"/>
          <p:nvPr/>
        </p:nvSpPr>
        <p:spPr>
          <a:xfrm>
            <a:off x="822960" y="541324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Phase imbalance and current asymmetry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Voltage deviation and power factor, if the required signals exist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Harmonic distortion, if waveform or harmonic measurements are available</a:t>
            </a:r>
            <a:endParaRPr lang="en-US" sz="1300" dirty="0"/>
          </a:p>
        </p:txBody>
      </p:sp>
      <p:sp>
        <p:nvSpPr>
          <p:cNvPr id="18" name="Card 15">
            <a:extLst>
              <a:ext uri="{FF2B5EF4-FFF2-40B4-BE49-F238E27FC236}">
                <a16:creationId xmlns:a16="http://schemas.microsoft.com/office/drawing/2014/main" id="{95B4C98D-5464-AF92-2987-58ACF94E3463}"/>
              </a:ext>
            </a:extLst>
          </p:cNvPr>
          <p:cNvSpPr/>
          <p:nvPr/>
        </p:nvSpPr>
        <p:spPr>
          <a:xfrm>
            <a:off x="6181344" y="1691640"/>
            <a:ext cx="5458968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Num 16">
            <a:extLst>
              <a:ext uri="{FF2B5EF4-FFF2-40B4-BE49-F238E27FC236}">
                <a16:creationId xmlns:a16="http://schemas.microsoft.com/office/drawing/2014/main" id="{C875F0E8-54A5-8CF8-C0BD-C6EFE66BA98D}"/>
              </a:ext>
            </a:extLst>
          </p:cNvPr>
          <p:cNvSpPr txBox="1"/>
          <p:nvPr/>
        </p:nvSpPr>
        <p:spPr>
          <a:xfrm>
            <a:off x="6409944" y="187452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B966345-86B6-2EB9-7994-6F7E89B2C40E}"/>
              </a:ext>
            </a:extLst>
          </p:cNvPr>
          <p:cNvSpPr txBox="1"/>
          <p:nvPr/>
        </p:nvSpPr>
        <p:spPr>
          <a:xfrm>
            <a:off x="7004304" y="1874520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Insulation ageing and cumulative thermal damage</a:t>
            </a:r>
            <a:endParaRPr lang="en-US" sz="16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FC62C6F-52D0-50DF-8EB0-C38C6A87AB8F}"/>
              </a:ext>
            </a:extLst>
          </p:cNvPr>
          <p:cNvSpPr txBox="1"/>
          <p:nvPr/>
        </p:nvSpPr>
        <p:spPr>
          <a:xfrm>
            <a:off x="6455664" y="2377440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</a:rPr>
              <a:t>Extend the illustrative ageing-hours demo toward cumulative thermal-damage tracking, only after calibration and field validation.</a:t>
            </a:r>
            <a:endParaRPr lang="en-US" sz="1350" dirty="0"/>
          </a:p>
        </p:txBody>
      </p:sp>
      <p:sp>
        <p:nvSpPr>
          <p:cNvPr id="22" name="Card 19">
            <a:extLst>
              <a:ext uri="{FF2B5EF4-FFF2-40B4-BE49-F238E27FC236}">
                <a16:creationId xmlns:a16="http://schemas.microsoft.com/office/drawing/2014/main" id="{FBA3345A-AF73-282A-BB1A-B40C17D1562C}"/>
              </a:ext>
            </a:extLst>
          </p:cNvPr>
          <p:cNvSpPr/>
          <p:nvPr/>
        </p:nvSpPr>
        <p:spPr>
          <a:xfrm>
            <a:off x="6181344" y="3429000"/>
            <a:ext cx="5458968" cy="2880360"/>
          </a:xfrm>
          <a:prstGeom prst="roundRect">
            <a:avLst>
              <a:gd name="adj" fmla="val 3175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Num 20">
            <a:extLst>
              <a:ext uri="{FF2B5EF4-FFF2-40B4-BE49-F238E27FC236}">
                <a16:creationId xmlns:a16="http://schemas.microsoft.com/office/drawing/2014/main" id="{985E0332-71F6-2220-4614-0B4FC92274E6}"/>
              </a:ext>
            </a:extLst>
          </p:cNvPr>
          <p:cNvSpPr txBox="1"/>
          <p:nvPr/>
        </p:nvSpPr>
        <p:spPr>
          <a:xfrm>
            <a:off x="6409944" y="361188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A219474-7F0B-8DE2-6C00-91762AB5C70D}"/>
              </a:ext>
            </a:extLst>
          </p:cNvPr>
          <p:cNvSpPr txBox="1"/>
          <p:nvPr/>
        </p:nvSpPr>
        <p:spPr>
          <a:xfrm>
            <a:off x="7004304" y="3611880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3D thermal digital twin using FEM</a:t>
            </a:r>
            <a:endParaRPr lang="en-US" sz="16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DF61E213-C825-2721-4FDD-8F1D4DB4CBBC}"/>
              </a:ext>
            </a:extLst>
          </p:cNvPr>
          <p:cNvSpPr txBox="1"/>
          <p:nvPr/>
        </p:nvSpPr>
        <p:spPr>
          <a:xfrm>
            <a:off x="6455664" y="4114800"/>
            <a:ext cx="2651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</a:rPr>
              <a:t>Create a simulated spatial temperature map of transformer components rather than displaying only one temperature number.</a:t>
            </a:r>
            <a:endParaRPr lang="en-US" sz="1350" dirty="0"/>
          </a:p>
        </p:txBody>
      </p:sp>
      <p:sp>
        <p:nvSpPr>
          <p:cNvPr id="26" name="Heat 0-0">
            <a:extLst>
              <a:ext uri="{FF2B5EF4-FFF2-40B4-BE49-F238E27FC236}">
                <a16:creationId xmlns:a16="http://schemas.microsoft.com/office/drawing/2014/main" id="{19B694D3-9D7B-75AC-1D98-9588131A6653}"/>
              </a:ext>
            </a:extLst>
          </p:cNvPr>
          <p:cNvSpPr/>
          <p:nvPr/>
        </p:nvSpPr>
        <p:spPr>
          <a:xfrm>
            <a:off x="9098280" y="4297680"/>
            <a:ext cx="274320" cy="274320"/>
          </a:xfrm>
          <a:prstGeom prst="rect">
            <a:avLst/>
          </a:prstGeom>
          <a:solidFill>
            <a:srgbClr val="27819A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Heat 0-1">
            <a:extLst>
              <a:ext uri="{FF2B5EF4-FFF2-40B4-BE49-F238E27FC236}">
                <a16:creationId xmlns:a16="http://schemas.microsoft.com/office/drawing/2014/main" id="{BFFBD7CB-D0DE-AA48-9EE3-B7B84DEDF676}"/>
              </a:ext>
            </a:extLst>
          </p:cNvPr>
          <p:cNvSpPr/>
          <p:nvPr/>
        </p:nvSpPr>
        <p:spPr>
          <a:xfrm>
            <a:off x="9372600" y="4297680"/>
            <a:ext cx="274320" cy="274320"/>
          </a:xfrm>
          <a:prstGeom prst="rect">
            <a:avLst/>
          </a:prstGeom>
          <a:solidFill>
            <a:srgbClr val="24849C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Heat 0-2">
            <a:extLst>
              <a:ext uri="{FF2B5EF4-FFF2-40B4-BE49-F238E27FC236}">
                <a16:creationId xmlns:a16="http://schemas.microsoft.com/office/drawing/2014/main" id="{9C0194CA-C55E-5949-94F9-DF1CC8E7FF05}"/>
              </a:ext>
            </a:extLst>
          </p:cNvPr>
          <p:cNvSpPr/>
          <p:nvPr/>
        </p:nvSpPr>
        <p:spPr>
          <a:xfrm>
            <a:off x="9646920" y="4297680"/>
            <a:ext cx="274320" cy="274320"/>
          </a:xfrm>
          <a:prstGeom prst="rect">
            <a:avLst/>
          </a:prstGeom>
          <a:solidFill>
            <a:srgbClr val="1E899F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Heat 0-3">
            <a:extLst>
              <a:ext uri="{FF2B5EF4-FFF2-40B4-BE49-F238E27FC236}">
                <a16:creationId xmlns:a16="http://schemas.microsoft.com/office/drawing/2014/main" id="{A9ACA6AC-7F40-638D-8E67-33299397734B}"/>
              </a:ext>
            </a:extLst>
          </p:cNvPr>
          <p:cNvSpPr/>
          <p:nvPr/>
        </p:nvSpPr>
        <p:spPr>
          <a:xfrm>
            <a:off x="9921240" y="4297680"/>
            <a:ext cx="274320" cy="274320"/>
          </a:xfrm>
          <a:prstGeom prst="rect">
            <a:avLst/>
          </a:prstGeom>
          <a:solidFill>
            <a:srgbClr val="198EA1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Heat 0-4">
            <a:extLst>
              <a:ext uri="{FF2B5EF4-FFF2-40B4-BE49-F238E27FC236}">
                <a16:creationId xmlns:a16="http://schemas.microsoft.com/office/drawing/2014/main" id="{444537C3-D54E-8D6D-1402-6630E2A580F6}"/>
              </a:ext>
            </a:extLst>
          </p:cNvPr>
          <p:cNvSpPr/>
          <p:nvPr/>
        </p:nvSpPr>
        <p:spPr>
          <a:xfrm>
            <a:off x="10195560" y="4297680"/>
            <a:ext cx="274320" cy="274320"/>
          </a:xfrm>
          <a:prstGeom prst="rect">
            <a:avLst/>
          </a:prstGeom>
          <a:solidFill>
            <a:srgbClr val="198EA1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Heat 0-5">
            <a:extLst>
              <a:ext uri="{FF2B5EF4-FFF2-40B4-BE49-F238E27FC236}">
                <a16:creationId xmlns:a16="http://schemas.microsoft.com/office/drawing/2014/main" id="{9B9A603D-FD38-DB58-A4DA-4F3501FB9AA1}"/>
              </a:ext>
            </a:extLst>
          </p:cNvPr>
          <p:cNvSpPr/>
          <p:nvPr/>
        </p:nvSpPr>
        <p:spPr>
          <a:xfrm>
            <a:off x="10469880" y="4297680"/>
            <a:ext cx="274320" cy="274320"/>
          </a:xfrm>
          <a:prstGeom prst="rect">
            <a:avLst/>
          </a:prstGeom>
          <a:solidFill>
            <a:srgbClr val="1E899F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Heat 0-6">
            <a:extLst>
              <a:ext uri="{FF2B5EF4-FFF2-40B4-BE49-F238E27FC236}">
                <a16:creationId xmlns:a16="http://schemas.microsoft.com/office/drawing/2014/main" id="{AF095F6C-CA58-6C9C-38C1-D5FDE49F80C5}"/>
              </a:ext>
            </a:extLst>
          </p:cNvPr>
          <p:cNvSpPr/>
          <p:nvPr/>
        </p:nvSpPr>
        <p:spPr>
          <a:xfrm>
            <a:off x="10744200" y="4297680"/>
            <a:ext cx="274320" cy="274320"/>
          </a:xfrm>
          <a:prstGeom prst="rect">
            <a:avLst/>
          </a:prstGeom>
          <a:solidFill>
            <a:srgbClr val="24849C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Heat 0-7">
            <a:extLst>
              <a:ext uri="{FF2B5EF4-FFF2-40B4-BE49-F238E27FC236}">
                <a16:creationId xmlns:a16="http://schemas.microsoft.com/office/drawing/2014/main" id="{1DFD1DE5-CB02-927E-3444-8FC03BD22FBF}"/>
              </a:ext>
            </a:extLst>
          </p:cNvPr>
          <p:cNvSpPr/>
          <p:nvPr/>
        </p:nvSpPr>
        <p:spPr>
          <a:xfrm>
            <a:off x="11018520" y="4297680"/>
            <a:ext cx="274320" cy="274320"/>
          </a:xfrm>
          <a:prstGeom prst="rect">
            <a:avLst/>
          </a:prstGeom>
          <a:solidFill>
            <a:srgbClr val="27819A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Heat 1-0">
            <a:extLst>
              <a:ext uri="{FF2B5EF4-FFF2-40B4-BE49-F238E27FC236}">
                <a16:creationId xmlns:a16="http://schemas.microsoft.com/office/drawing/2014/main" id="{E7F34F6B-DFB8-EBA7-7D2B-642F1958B7AE}"/>
              </a:ext>
            </a:extLst>
          </p:cNvPr>
          <p:cNvSpPr/>
          <p:nvPr/>
        </p:nvSpPr>
        <p:spPr>
          <a:xfrm>
            <a:off x="9098280" y="4572000"/>
            <a:ext cx="274320" cy="274320"/>
          </a:xfrm>
          <a:prstGeom prst="rect">
            <a:avLst/>
          </a:prstGeom>
          <a:solidFill>
            <a:srgbClr val="23849C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Heat 1-1">
            <a:extLst>
              <a:ext uri="{FF2B5EF4-FFF2-40B4-BE49-F238E27FC236}">
                <a16:creationId xmlns:a16="http://schemas.microsoft.com/office/drawing/2014/main" id="{383FD313-DD7B-C589-CC0D-B88F58C3C9B4}"/>
              </a:ext>
            </a:extLst>
          </p:cNvPr>
          <p:cNvSpPr/>
          <p:nvPr/>
        </p:nvSpPr>
        <p:spPr>
          <a:xfrm>
            <a:off x="9372600" y="4572000"/>
            <a:ext cx="274320" cy="274320"/>
          </a:xfrm>
          <a:prstGeom prst="rect">
            <a:avLst/>
          </a:prstGeom>
          <a:solidFill>
            <a:srgbClr val="198FA2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Heat 1-2">
            <a:extLst>
              <a:ext uri="{FF2B5EF4-FFF2-40B4-BE49-F238E27FC236}">
                <a16:creationId xmlns:a16="http://schemas.microsoft.com/office/drawing/2014/main" id="{3E9417F0-06AE-7237-0D46-E708CFDB81C1}"/>
              </a:ext>
            </a:extLst>
          </p:cNvPr>
          <p:cNvSpPr/>
          <p:nvPr/>
        </p:nvSpPr>
        <p:spPr>
          <a:xfrm>
            <a:off x="9646920" y="4572000"/>
            <a:ext cx="274320" cy="274320"/>
          </a:xfrm>
          <a:prstGeom prst="rect">
            <a:avLst/>
          </a:prstGeom>
          <a:solidFill>
            <a:srgbClr val="399C8E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Heat 1-3">
            <a:extLst>
              <a:ext uri="{FF2B5EF4-FFF2-40B4-BE49-F238E27FC236}">
                <a16:creationId xmlns:a16="http://schemas.microsoft.com/office/drawing/2014/main" id="{A3CD8A69-1591-7272-CDC9-7707CD5A45B4}"/>
              </a:ext>
            </a:extLst>
          </p:cNvPr>
          <p:cNvSpPr/>
          <p:nvPr/>
        </p:nvSpPr>
        <p:spPr>
          <a:xfrm>
            <a:off x="9921240" y="4572000"/>
            <a:ext cx="274320" cy="274320"/>
          </a:xfrm>
          <a:prstGeom prst="rect">
            <a:avLst/>
          </a:prstGeom>
          <a:solidFill>
            <a:srgbClr val="8FA15D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Heat 1-4">
            <a:extLst>
              <a:ext uri="{FF2B5EF4-FFF2-40B4-BE49-F238E27FC236}">
                <a16:creationId xmlns:a16="http://schemas.microsoft.com/office/drawing/2014/main" id="{33E81805-CD35-F2D9-106E-84C670D241A4}"/>
              </a:ext>
            </a:extLst>
          </p:cNvPr>
          <p:cNvSpPr/>
          <p:nvPr/>
        </p:nvSpPr>
        <p:spPr>
          <a:xfrm>
            <a:off x="10195560" y="4572000"/>
            <a:ext cx="274320" cy="274320"/>
          </a:xfrm>
          <a:prstGeom prst="rect">
            <a:avLst/>
          </a:prstGeom>
          <a:solidFill>
            <a:srgbClr val="8FA15D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Heat 1-5">
            <a:extLst>
              <a:ext uri="{FF2B5EF4-FFF2-40B4-BE49-F238E27FC236}">
                <a16:creationId xmlns:a16="http://schemas.microsoft.com/office/drawing/2014/main" id="{7BE44A68-5A45-5F64-BAC3-4FD9C315ED98}"/>
              </a:ext>
            </a:extLst>
          </p:cNvPr>
          <p:cNvSpPr/>
          <p:nvPr/>
        </p:nvSpPr>
        <p:spPr>
          <a:xfrm>
            <a:off x="10469880" y="4572000"/>
            <a:ext cx="274320" cy="274320"/>
          </a:xfrm>
          <a:prstGeom prst="rect">
            <a:avLst/>
          </a:prstGeom>
          <a:solidFill>
            <a:srgbClr val="399C8E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Heat 1-6">
            <a:extLst>
              <a:ext uri="{FF2B5EF4-FFF2-40B4-BE49-F238E27FC236}">
                <a16:creationId xmlns:a16="http://schemas.microsoft.com/office/drawing/2014/main" id="{F034DA16-4C6B-9EED-D011-CCCCEF8AB24F}"/>
              </a:ext>
            </a:extLst>
          </p:cNvPr>
          <p:cNvSpPr/>
          <p:nvPr/>
        </p:nvSpPr>
        <p:spPr>
          <a:xfrm>
            <a:off x="10744200" y="4572000"/>
            <a:ext cx="274320" cy="274320"/>
          </a:xfrm>
          <a:prstGeom prst="rect">
            <a:avLst/>
          </a:prstGeom>
          <a:solidFill>
            <a:srgbClr val="198FA2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Heat 1-7">
            <a:extLst>
              <a:ext uri="{FF2B5EF4-FFF2-40B4-BE49-F238E27FC236}">
                <a16:creationId xmlns:a16="http://schemas.microsoft.com/office/drawing/2014/main" id="{04CEF9E0-E066-0260-725C-9F4B91408A9D}"/>
              </a:ext>
            </a:extLst>
          </p:cNvPr>
          <p:cNvSpPr/>
          <p:nvPr/>
        </p:nvSpPr>
        <p:spPr>
          <a:xfrm>
            <a:off x="11018520" y="4572000"/>
            <a:ext cx="274320" cy="274320"/>
          </a:xfrm>
          <a:prstGeom prst="rect">
            <a:avLst/>
          </a:prstGeom>
          <a:solidFill>
            <a:srgbClr val="23849C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Heat 2-0">
            <a:extLst>
              <a:ext uri="{FF2B5EF4-FFF2-40B4-BE49-F238E27FC236}">
                <a16:creationId xmlns:a16="http://schemas.microsoft.com/office/drawing/2014/main" id="{86B45357-FEE6-43B3-2B09-D41D106A7D2F}"/>
              </a:ext>
            </a:extLst>
          </p:cNvPr>
          <p:cNvSpPr/>
          <p:nvPr/>
        </p:nvSpPr>
        <p:spPr>
          <a:xfrm>
            <a:off x="9098280" y="4846320"/>
            <a:ext cx="274320" cy="274320"/>
          </a:xfrm>
          <a:prstGeom prst="rect">
            <a:avLst/>
          </a:prstGeom>
          <a:solidFill>
            <a:srgbClr val="1F889E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Heat 2-1">
            <a:extLst>
              <a:ext uri="{FF2B5EF4-FFF2-40B4-BE49-F238E27FC236}">
                <a16:creationId xmlns:a16="http://schemas.microsoft.com/office/drawing/2014/main" id="{1FBD1A77-B206-65DD-C015-467C05E0C0A7}"/>
              </a:ext>
            </a:extLst>
          </p:cNvPr>
          <p:cNvSpPr/>
          <p:nvPr/>
        </p:nvSpPr>
        <p:spPr>
          <a:xfrm>
            <a:off x="9372600" y="4846320"/>
            <a:ext cx="274320" cy="274320"/>
          </a:xfrm>
          <a:prstGeom prst="rect">
            <a:avLst/>
          </a:prstGeom>
          <a:solidFill>
            <a:srgbClr val="1E9B9E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Heat 2-2">
            <a:extLst>
              <a:ext uri="{FF2B5EF4-FFF2-40B4-BE49-F238E27FC236}">
                <a16:creationId xmlns:a16="http://schemas.microsoft.com/office/drawing/2014/main" id="{1B47DF2E-85CC-FB92-063A-0ED5DCD9EB48}"/>
              </a:ext>
            </a:extLst>
          </p:cNvPr>
          <p:cNvSpPr/>
          <p:nvPr/>
        </p:nvSpPr>
        <p:spPr>
          <a:xfrm>
            <a:off x="9646920" y="4846320"/>
            <a:ext cx="274320" cy="274320"/>
          </a:xfrm>
          <a:prstGeom prst="rect">
            <a:avLst/>
          </a:prstGeom>
          <a:solidFill>
            <a:srgbClr val="D2A437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Heat 2-3">
            <a:extLst>
              <a:ext uri="{FF2B5EF4-FFF2-40B4-BE49-F238E27FC236}">
                <a16:creationId xmlns:a16="http://schemas.microsoft.com/office/drawing/2014/main" id="{839F0166-1DFA-9970-8B93-C5C73621971D}"/>
              </a:ext>
            </a:extLst>
          </p:cNvPr>
          <p:cNvSpPr/>
          <p:nvPr/>
        </p:nvSpPr>
        <p:spPr>
          <a:xfrm>
            <a:off x="9921240" y="4846320"/>
            <a:ext cx="274320" cy="274320"/>
          </a:xfrm>
          <a:prstGeom prst="rect">
            <a:avLst/>
          </a:prstGeom>
          <a:solidFill>
            <a:srgbClr val="E5783B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Heat 2-4">
            <a:extLst>
              <a:ext uri="{FF2B5EF4-FFF2-40B4-BE49-F238E27FC236}">
                <a16:creationId xmlns:a16="http://schemas.microsoft.com/office/drawing/2014/main" id="{D4794B9F-3C8F-26E2-C415-23EE1FF2A405}"/>
              </a:ext>
            </a:extLst>
          </p:cNvPr>
          <p:cNvSpPr/>
          <p:nvPr/>
        </p:nvSpPr>
        <p:spPr>
          <a:xfrm>
            <a:off x="10195560" y="4846320"/>
            <a:ext cx="274320" cy="274320"/>
          </a:xfrm>
          <a:prstGeom prst="rect">
            <a:avLst/>
          </a:prstGeom>
          <a:solidFill>
            <a:srgbClr val="E5783B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Heat 2-5">
            <a:extLst>
              <a:ext uri="{FF2B5EF4-FFF2-40B4-BE49-F238E27FC236}">
                <a16:creationId xmlns:a16="http://schemas.microsoft.com/office/drawing/2014/main" id="{106B4B49-3387-354D-00C8-9C8EF647C880}"/>
              </a:ext>
            </a:extLst>
          </p:cNvPr>
          <p:cNvSpPr/>
          <p:nvPr/>
        </p:nvSpPr>
        <p:spPr>
          <a:xfrm>
            <a:off x="10469880" y="4846320"/>
            <a:ext cx="274320" cy="274320"/>
          </a:xfrm>
          <a:prstGeom prst="rect">
            <a:avLst/>
          </a:prstGeom>
          <a:solidFill>
            <a:srgbClr val="D2A437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Heat 2-6">
            <a:extLst>
              <a:ext uri="{FF2B5EF4-FFF2-40B4-BE49-F238E27FC236}">
                <a16:creationId xmlns:a16="http://schemas.microsoft.com/office/drawing/2014/main" id="{83E23918-9045-251F-DC32-487D6D814720}"/>
              </a:ext>
            </a:extLst>
          </p:cNvPr>
          <p:cNvSpPr/>
          <p:nvPr/>
        </p:nvSpPr>
        <p:spPr>
          <a:xfrm>
            <a:off x="10744200" y="4846320"/>
            <a:ext cx="274320" cy="274320"/>
          </a:xfrm>
          <a:prstGeom prst="rect">
            <a:avLst/>
          </a:prstGeom>
          <a:solidFill>
            <a:srgbClr val="1E9B9E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Heat 2-7">
            <a:extLst>
              <a:ext uri="{FF2B5EF4-FFF2-40B4-BE49-F238E27FC236}">
                <a16:creationId xmlns:a16="http://schemas.microsoft.com/office/drawing/2014/main" id="{A2C2F3EB-825B-61A0-9D5F-DDF8015CD6BD}"/>
              </a:ext>
            </a:extLst>
          </p:cNvPr>
          <p:cNvSpPr/>
          <p:nvPr/>
        </p:nvSpPr>
        <p:spPr>
          <a:xfrm>
            <a:off x="11018520" y="4846320"/>
            <a:ext cx="274320" cy="274320"/>
          </a:xfrm>
          <a:prstGeom prst="rect">
            <a:avLst/>
          </a:prstGeom>
          <a:solidFill>
            <a:srgbClr val="1F889E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Heat 3-0">
            <a:extLst>
              <a:ext uri="{FF2B5EF4-FFF2-40B4-BE49-F238E27FC236}">
                <a16:creationId xmlns:a16="http://schemas.microsoft.com/office/drawing/2014/main" id="{C3D27BA7-1D65-1A2A-8851-053039D60327}"/>
              </a:ext>
            </a:extLst>
          </p:cNvPr>
          <p:cNvSpPr/>
          <p:nvPr/>
        </p:nvSpPr>
        <p:spPr>
          <a:xfrm>
            <a:off x="9098280" y="5120640"/>
            <a:ext cx="274320" cy="274320"/>
          </a:xfrm>
          <a:prstGeom prst="rect">
            <a:avLst/>
          </a:prstGeom>
          <a:solidFill>
            <a:srgbClr val="1F889E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Heat 3-1">
            <a:extLst>
              <a:ext uri="{FF2B5EF4-FFF2-40B4-BE49-F238E27FC236}">
                <a16:creationId xmlns:a16="http://schemas.microsoft.com/office/drawing/2014/main" id="{140B701B-9362-247C-1DA6-28FFC371A440}"/>
              </a:ext>
            </a:extLst>
          </p:cNvPr>
          <p:cNvSpPr/>
          <p:nvPr/>
        </p:nvSpPr>
        <p:spPr>
          <a:xfrm>
            <a:off x="9372600" y="5120640"/>
            <a:ext cx="274320" cy="274320"/>
          </a:xfrm>
          <a:prstGeom prst="rect">
            <a:avLst/>
          </a:prstGeom>
          <a:solidFill>
            <a:srgbClr val="1E9B9E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Heat 3-2">
            <a:extLst>
              <a:ext uri="{FF2B5EF4-FFF2-40B4-BE49-F238E27FC236}">
                <a16:creationId xmlns:a16="http://schemas.microsoft.com/office/drawing/2014/main" id="{4158B246-2A0E-E722-F888-D967557BEAAA}"/>
              </a:ext>
            </a:extLst>
          </p:cNvPr>
          <p:cNvSpPr/>
          <p:nvPr/>
        </p:nvSpPr>
        <p:spPr>
          <a:xfrm>
            <a:off x="9646920" y="5120640"/>
            <a:ext cx="274320" cy="274320"/>
          </a:xfrm>
          <a:prstGeom prst="rect">
            <a:avLst/>
          </a:prstGeom>
          <a:solidFill>
            <a:srgbClr val="D2A437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Heat 3-3">
            <a:extLst>
              <a:ext uri="{FF2B5EF4-FFF2-40B4-BE49-F238E27FC236}">
                <a16:creationId xmlns:a16="http://schemas.microsoft.com/office/drawing/2014/main" id="{7012FA4F-ECDC-A65D-6431-5077E4851342}"/>
              </a:ext>
            </a:extLst>
          </p:cNvPr>
          <p:cNvSpPr/>
          <p:nvPr/>
        </p:nvSpPr>
        <p:spPr>
          <a:xfrm>
            <a:off x="9921240" y="5120640"/>
            <a:ext cx="274320" cy="274320"/>
          </a:xfrm>
          <a:prstGeom prst="rect">
            <a:avLst/>
          </a:prstGeom>
          <a:solidFill>
            <a:srgbClr val="E5783B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Heat 3-4">
            <a:extLst>
              <a:ext uri="{FF2B5EF4-FFF2-40B4-BE49-F238E27FC236}">
                <a16:creationId xmlns:a16="http://schemas.microsoft.com/office/drawing/2014/main" id="{C2F0D0FD-4B1B-DD79-3CE6-A6F5C59B1404}"/>
              </a:ext>
            </a:extLst>
          </p:cNvPr>
          <p:cNvSpPr/>
          <p:nvPr/>
        </p:nvSpPr>
        <p:spPr>
          <a:xfrm>
            <a:off x="10195560" y="5120640"/>
            <a:ext cx="274320" cy="274320"/>
          </a:xfrm>
          <a:prstGeom prst="rect">
            <a:avLst/>
          </a:prstGeom>
          <a:solidFill>
            <a:srgbClr val="E5783B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Heat 3-5">
            <a:extLst>
              <a:ext uri="{FF2B5EF4-FFF2-40B4-BE49-F238E27FC236}">
                <a16:creationId xmlns:a16="http://schemas.microsoft.com/office/drawing/2014/main" id="{AF491358-D4D4-0EA5-D657-C4C0C7C0FA7C}"/>
              </a:ext>
            </a:extLst>
          </p:cNvPr>
          <p:cNvSpPr/>
          <p:nvPr/>
        </p:nvSpPr>
        <p:spPr>
          <a:xfrm>
            <a:off x="10469880" y="5120640"/>
            <a:ext cx="274320" cy="274320"/>
          </a:xfrm>
          <a:prstGeom prst="rect">
            <a:avLst/>
          </a:prstGeom>
          <a:solidFill>
            <a:srgbClr val="D2A437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Heat 3-6">
            <a:extLst>
              <a:ext uri="{FF2B5EF4-FFF2-40B4-BE49-F238E27FC236}">
                <a16:creationId xmlns:a16="http://schemas.microsoft.com/office/drawing/2014/main" id="{067D12D9-5DE0-3C1A-E770-FC52FFCA28D2}"/>
              </a:ext>
            </a:extLst>
          </p:cNvPr>
          <p:cNvSpPr/>
          <p:nvPr/>
        </p:nvSpPr>
        <p:spPr>
          <a:xfrm>
            <a:off x="10744200" y="5120640"/>
            <a:ext cx="274320" cy="274320"/>
          </a:xfrm>
          <a:prstGeom prst="rect">
            <a:avLst/>
          </a:prstGeom>
          <a:solidFill>
            <a:srgbClr val="1E9B9E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Heat 3-7">
            <a:extLst>
              <a:ext uri="{FF2B5EF4-FFF2-40B4-BE49-F238E27FC236}">
                <a16:creationId xmlns:a16="http://schemas.microsoft.com/office/drawing/2014/main" id="{D36F62C3-F10B-681C-2F90-B18ED3E5825F}"/>
              </a:ext>
            </a:extLst>
          </p:cNvPr>
          <p:cNvSpPr/>
          <p:nvPr/>
        </p:nvSpPr>
        <p:spPr>
          <a:xfrm>
            <a:off x="11018520" y="5120640"/>
            <a:ext cx="274320" cy="274320"/>
          </a:xfrm>
          <a:prstGeom prst="rect">
            <a:avLst/>
          </a:prstGeom>
          <a:solidFill>
            <a:srgbClr val="1F889E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Heat 4-0">
            <a:extLst>
              <a:ext uri="{FF2B5EF4-FFF2-40B4-BE49-F238E27FC236}">
                <a16:creationId xmlns:a16="http://schemas.microsoft.com/office/drawing/2014/main" id="{02C064A3-4E0F-81E7-746F-918B54BB4BE4}"/>
              </a:ext>
            </a:extLst>
          </p:cNvPr>
          <p:cNvSpPr/>
          <p:nvPr/>
        </p:nvSpPr>
        <p:spPr>
          <a:xfrm>
            <a:off x="9098280" y="5394960"/>
            <a:ext cx="274320" cy="274320"/>
          </a:xfrm>
          <a:prstGeom prst="rect">
            <a:avLst/>
          </a:prstGeom>
          <a:solidFill>
            <a:srgbClr val="23849C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Heat 4-1">
            <a:extLst>
              <a:ext uri="{FF2B5EF4-FFF2-40B4-BE49-F238E27FC236}">
                <a16:creationId xmlns:a16="http://schemas.microsoft.com/office/drawing/2014/main" id="{875110AE-D511-DB44-85B6-2A68BD2B860D}"/>
              </a:ext>
            </a:extLst>
          </p:cNvPr>
          <p:cNvSpPr/>
          <p:nvPr/>
        </p:nvSpPr>
        <p:spPr>
          <a:xfrm>
            <a:off x="9372600" y="5394960"/>
            <a:ext cx="274320" cy="274320"/>
          </a:xfrm>
          <a:prstGeom prst="rect">
            <a:avLst/>
          </a:prstGeom>
          <a:solidFill>
            <a:srgbClr val="198FA2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Heat 4-2">
            <a:extLst>
              <a:ext uri="{FF2B5EF4-FFF2-40B4-BE49-F238E27FC236}">
                <a16:creationId xmlns:a16="http://schemas.microsoft.com/office/drawing/2014/main" id="{52351E11-25C4-F872-B986-2BE5A54B43D8}"/>
              </a:ext>
            </a:extLst>
          </p:cNvPr>
          <p:cNvSpPr/>
          <p:nvPr/>
        </p:nvSpPr>
        <p:spPr>
          <a:xfrm>
            <a:off x="9646920" y="5394960"/>
            <a:ext cx="274320" cy="274320"/>
          </a:xfrm>
          <a:prstGeom prst="rect">
            <a:avLst/>
          </a:prstGeom>
          <a:solidFill>
            <a:srgbClr val="399C8E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Heat 4-3">
            <a:extLst>
              <a:ext uri="{FF2B5EF4-FFF2-40B4-BE49-F238E27FC236}">
                <a16:creationId xmlns:a16="http://schemas.microsoft.com/office/drawing/2014/main" id="{25D9A171-EDB1-DB6D-8A35-6821DAEEEE1A}"/>
              </a:ext>
            </a:extLst>
          </p:cNvPr>
          <p:cNvSpPr/>
          <p:nvPr/>
        </p:nvSpPr>
        <p:spPr>
          <a:xfrm>
            <a:off x="9921240" y="5394960"/>
            <a:ext cx="274320" cy="274320"/>
          </a:xfrm>
          <a:prstGeom prst="rect">
            <a:avLst/>
          </a:prstGeom>
          <a:solidFill>
            <a:srgbClr val="8FA15D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Heat 4-4">
            <a:extLst>
              <a:ext uri="{FF2B5EF4-FFF2-40B4-BE49-F238E27FC236}">
                <a16:creationId xmlns:a16="http://schemas.microsoft.com/office/drawing/2014/main" id="{9FE632BC-F4E0-111F-DD20-35E7AD8BD67A}"/>
              </a:ext>
            </a:extLst>
          </p:cNvPr>
          <p:cNvSpPr/>
          <p:nvPr/>
        </p:nvSpPr>
        <p:spPr>
          <a:xfrm>
            <a:off x="10195560" y="5394960"/>
            <a:ext cx="274320" cy="274320"/>
          </a:xfrm>
          <a:prstGeom prst="rect">
            <a:avLst/>
          </a:prstGeom>
          <a:solidFill>
            <a:srgbClr val="8FA15D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Heat 4-5">
            <a:extLst>
              <a:ext uri="{FF2B5EF4-FFF2-40B4-BE49-F238E27FC236}">
                <a16:creationId xmlns:a16="http://schemas.microsoft.com/office/drawing/2014/main" id="{6CEA2D1B-76FF-41BB-9231-20B590FC81B1}"/>
              </a:ext>
            </a:extLst>
          </p:cNvPr>
          <p:cNvSpPr/>
          <p:nvPr/>
        </p:nvSpPr>
        <p:spPr>
          <a:xfrm>
            <a:off x="10469880" y="5394960"/>
            <a:ext cx="274320" cy="274320"/>
          </a:xfrm>
          <a:prstGeom prst="rect">
            <a:avLst/>
          </a:prstGeom>
          <a:solidFill>
            <a:srgbClr val="399C8E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Heat 4-6">
            <a:extLst>
              <a:ext uri="{FF2B5EF4-FFF2-40B4-BE49-F238E27FC236}">
                <a16:creationId xmlns:a16="http://schemas.microsoft.com/office/drawing/2014/main" id="{829A9595-5531-076E-C1A8-B37B552C09B8}"/>
              </a:ext>
            </a:extLst>
          </p:cNvPr>
          <p:cNvSpPr/>
          <p:nvPr/>
        </p:nvSpPr>
        <p:spPr>
          <a:xfrm>
            <a:off x="10744200" y="5394960"/>
            <a:ext cx="274320" cy="274320"/>
          </a:xfrm>
          <a:prstGeom prst="rect">
            <a:avLst/>
          </a:prstGeom>
          <a:solidFill>
            <a:srgbClr val="198FA2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Heat 4-7">
            <a:extLst>
              <a:ext uri="{FF2B5EF4-FFF2-40B4-BE49-F238E27FC236}">
                <a16:creationId xmlns:a16="http://schemas.microsoft.com/office/drawing/2014/main" id="{0631FC63-DC1A-DC49-E8C1-2212B876B599}"/>
              </a:ext>
            </a:extLst>
          </p:cNvPr>
          <p:cNvSpPr/>
          <p:nvPr/>
        </p:nvSpPr>
        <p:spPr>
          <a:xfrm>
            <a:off x="11018520" y="5394960"/>
            <a:ext cx="274320" cy="274320"/>
          </a:xfrm>
          <a:prstGeom prst="rect">
            <a:avLst/>
          </a:prstGeom>
          <a:solidFill>
            <a:srgbClr val="23849C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Heat 5-0">
            <a:extLst>
              <a:ext uri="{FF2B5EF4-FFF2-40B4-BE49-F238E27FC236}">
                <a16:creationId xmlns:a16="http://schemas.microsoft.com/office/drawing/2014/main" id="{4CE932BC-B95F-9508-9C04-D000A42BCE80}"/>
              </a:ext>
            </a:extLst>
          </p:cNvPr>
          <p:cNvSpPr/>
          <p:nvPr/>
        </p:nvSpPr>
        <p:spPr>
          <a:xfrm>
            <a:off x="9098280" y="5669280"/>
            <a:ext cx="274320" cy="274320"/>
          </a:xfrm>
          <a:prstGeom prst="rect">
            <a:avLst/>
          </a:prstGeom>
          <a:solidFill>
            <a:srgbClr val="27819A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Heat 5-1">
            <a:extLst>
              <a:ext uri="{FF2B5EF4-FFF2-40B4-BE49-F238E27FC236}">
                <a16:creationId xmlns:a16="http://schemas.microsoft.com/office/drawing/2014/main" id="{5667A5EC-9A9E-E68F-3AC7-DDC613BC52BD}"/>
              </a:ext>
            </a:extLst>
          </p:cNvPr>
          <p:cNvSpPr/>
          <p:nvPr/>
        </p:nvSpPr>
        <p:spPr>
          <a:xfrm>
            <a:off x="9372600" y="5669280"/>
            <a:ext cx="274320" cy="274320"/>
          </a:xfrm>
          <a:prstGeom prst="rect">
            <a:avLst/>
          </a:prstGeom>
          <a:solidFill>
            <a:srgbClr val="24849C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Heat 5-2">
            <a:extLst>
              <a:ext uri="{FF2B5EF4-FFF2-40B4-BE49-F238E27FC236}">
                <a16:creationId xmlns:a16="http://schemas.microsoft.com/office/drawing/2014/main" id="{B0083E2F-DF3C-6FBE-0EB1-582B7F5BEDC4}"/>
              </a:ext>
            </a:extLst>
          </p:cNvPr>
          <p:cNvSpPr/>
          <p:nvPr/>
        </p:nvSpPr>
        <p:spPr>
          <a:xfrm>
            <a:off x="9646920" y="5669280"/>
            <a:ext cx="274320" cy="274320"/>
          </a:xfrm>
          <a:prstGeom prst="rect">
            <a:avLst/>
          </a:prstGeom>
          <a:solidFill>
            <a:srgbClr val="1E899F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Heat 5-3">
            <a:extLst>
              <a:ext uri="{FF2B5EF4-FFF2-40B4-BE49-F238E27FC236}">
                <a16:creationId xmlns:a16="http://schemas.microsoft.com/office/drawing/2014/main" id="{C7E91A89-5201-75C8-14D5-A4765D774017}"/>
              </a:ext>
            </a:extLst>
          </p:cNvPr>
          <p:cNvSpPr/>
          <p:nvPr/>
        </p:nvSpPr>
        <p:spPr>
          <a:xfrm>
            <a:off x="9921240" y="5669280"/>
            <a:ext cx="274320" cy="274320"/>
          </a:xfrm>
          <a:prstGeom prst="rect">
            <a:avLst/>
          </a:prstGeom>
          <a:solidFill>
            <a:srgbClr val="198EA1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Heat 5-4">
            <a:extLst>
              <a:ext uri="{FF2B5EF4-FFF2-40B4-BE49-F238E27FC236}">
                <a16:creationId xmlns:a16="http://schemas.microsoft.com/office/drawing/2014/main" id="{D298D961-EC3E-9FE0-5363-0F5393CCED36}"/>
              </a:ext>
            </a:extLst>
          </p:cNvPr>
          <p:cNvSpPr/>
          <p:nvPr/>
        </p:nvSpPr>
        <p:spPr>
          <a:xfrm>
            <a:off x="10195560" y="5669280"/>
            <a:ext cx="274320" cy="274320"/>
          </a:xfrm>
          <a:prstGeom prst="rect">
            <a:avLst/>
          </a:prstGeom>
          <a:solidFill>
            <a:srgbClr val="198EA1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Heat 5-5">
            <a:extLst>
              <a:ext uri="{FF2B5EF4-FFF2-40B4-BE49-F238E27FC236}">
                <a16:creationId xmlns:a16="http://schemas.microsoft.com/office/drawing/2014/main" id="{EC5863B4-43CA-3D5D-1C70-AF1A75701AA2}"/>
              </a:ext>
            </a:extLst>
          </p:cNvPr>
          <p:cNvSpPr/>
          <p:nvPr/>
        </p:nvSpPr>
        <p:spPr>
          <a:xfrm>
            <a:off x="10469880" y="5669280"/>
            <a:ext cx="274320" cy="274320"/>
          </a:xfrm>
          <a:prstGeom prst="rect">
            <a:avLst/>
          </a:prstGeom>
          <a:solidFill>
            <a:srgbClr val="1E899F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Heat 5-6">
            <a:extLst>
              <a:ext uri="{FF2B5EF4-FFF2-40B4-BE49-F238E27FC236}">
                <a16:creationId xmlns:a16="http://schemas.microsoft.com/office/drawing/2014/main" id="{5E6B8901-9799-63D4-FC81-B58CBF80530A}"/>
              </a:ext>
            </a:extLst>
          </p:cNvPr>
          <p:cNvSpPr/>
          <p:nvPr/>
        </p:nvSpPr>
        <p:spPr>
          <a:xfrm>
            <a:off x="10744200" y="5669280"/>
            <a:ext cx="274320" cy="274320"/>
          </a:xfrm>
          <a:prstGeom prst="rect">
            <a:avLst/>
          </a:prstGeom>
          <a:solidFill>
            <a:srgbClr val="24849C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Heat 5-7">
            <a:extLst>
              <a:ext uri="{FF2B5EF4-FFF2-40B4-BE49-F238E27FC236}">
                <a16:creationId xmlns:a16="http://schemas.microsoft.com/office/drawing/2014/main" id="{F9C8EA8D-2F13-2976-3A22-4FAD92FAEE38}"/>
              </a:ext>
            </a:extLst>
          </p:cNvPr>
          <p:cNvSpPr/>
          <p:nvPr/>
        </p:nvSpPr>
        <p:spPr>
          <a:xfrm>
            <a:off x="11018520" y="5669280"/>
            <a:ext cx="274320" cy="274320"/>
          </a:xfrm>
          <a:prstGeom prst="rect">
            <a:avLst/>
          </a:prstGeom>
          <a:solidFill>
            <a:srgbClr val="27819A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23">
            <a:extLst>
              <a:ext uri="{FF2B5EF4-FFF2-40B4-BE49-F238E27FC236}">
                <a16:creationId xmlns:a16="http://schemas.microsoft.com/office/drawing/2014/main" id="{05BA8318-FEA9-28E8-8397-FF9FDA4B07BF}"/>
              </a:ext>
            </a:extLst>
          </p:cNvPr>
          <p:cNvSpPr txBox="1"/>
          <p:nvPr/>
        </p:nvSpPr>
        <p:spPr>
          <a:xfrm>
            <a:off x="9098280" y="598932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CCD"/>
                </a:solidFill>
              </a:rPr>
              <a:t>Illustrative spatial map</a:t>
            </a:r>
            <a:endParaRPr lang="en-US" sz="1050" dirty="0"/>
          </a:p>
        </p:txBody>
      </p:sp>
      <p:sp>
        <p:nvSpPr>
          <p:cNvPr id="75" name="Slide Number Placeholder 0">
            <a:extLst>
              <a:ext uri="{FF2B5EF4-FFF2-40B4-BE49-F238E27FC236}">
                <a16:creationId xmlns:a16="http://schemas.microsoft.com/office/drawing/2014/main" id="{AC3E49A1-B8E3-C7CF-379D-1958FB2685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550924"/>
      </p:ext>
    </p:extLst>
  </p:cSld>
  <p:clrMapOvr>
    <a:masterClrMapping/>
  </p:clrMapOvr>
</p:sld>
</file>

<file path=ppt/theme/theme1.xml><?xml version="1.0" encoding="utf-8"?>
<a:theme xmlns:a="http://schemas.openxmlformats.org/drawingml/2006/main" name="GridTwin">
  <a:themeElements>
    <a:clrScheme name="GridTwin">
      <a:dk1>
        <a:srgbClr val="0B1F33"/>
      </a:dk1>
      <a:lt1>
        <a:srgbClr val="FFFFFF"/>
      </a:lt1>
      <a:dk2>
        <a:srgbClr val="163A59"/>
      </a:dk2>
      <a:lt2>
        <a:srgbClr val="EEF3F7"/>
      </a:lt2>
      <a:accent1>
        <a:srgbClr val="0E9AA7"/>
      </a:accent1>
      <a:accent2>
        <a:srgbClr val="F5A623"/>
      </a:accent2>
      <a:accent3>
        <a:srgbClr val="3D6A8F"/>
      </a:accent3>
      <a:accent4>
        <a:srgbClr val="C8423E"/>
      </a:accent4>
      <a:accent5>
        <a:srgbClr val="3FA877"/>
      </a:accent5>
      <a:accent6>
        <a:srgbClr val="5C6F82"/>
      </a:accent6>
      <a:hlink>
        <a:srgbClr val="0E9AA7"/>
      </a:hlink>
      <a:folHlink>
        <a:srgbClr val="3D6A8F"/>
      </a:folHlink>
    </a:clrScheme>
    <a:fontScheme name="Grid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1131</Words>
  <Application>Microsoft Office PowerPoint</Application>
  <PresentationFormat>Widescreen</PresentationFormat>
  <Paragraphs>220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GridTwin</vt:lpstr>
      <vt:lpstr>Transformer Digital Twin</vt:lpstr>
      <vt:lpstr>Beyond Sensors: Seeing Inside the Transformer</vt:lpstr>
      <vt:lpstr>What we ingest and normalize</vt:lpstr>
      <vt:lpstr>From simulator to dashboard: one traceable pipeline</vt:lpstr>
      <vt:lpstr>Architecture</vt:lpstr>
      <vt:lpstr>Analytics turn telemetry into explainable signals</vt:lpstr>
      <vt:lpstr>PowerPoint Presentation</vt:lpstr>
      <vt:lpstr>Indicators derived Through Measurable Parameters</vt:lpstr>
      <vt:lpstr>Indicators derived Through Measurable Parameters</vt:lpstr>
      <vt:lpstr>PowerPoint Presentation</vt:lpstr>
      <vt:lpstr>Demonstration: controlled fault scenarios</vt:lpstr>
      <vt:lpstr>PowerPoint Presentation</vt:lpstr>
      <vt:lpstr>Scaling the twin dashboard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 Digital Twin</dc:title>
  <dc:subject>PptxGenJS Presentation</dc:subject>
  <dc:creator>PptxGenJS</dc:creator>
  <cp:lastModifiedBy>Amitosh Nigam</cp:lastModifiedBy>
  <cp:revision>3</cp:revision>
  <dcterms:created xsi:type="dcterms:W3CDTF">2026-10-11T05:01:24Z</dcterms:created>
  <dcterms:modified xsi:type="dcterms:W3CDTF">2026-10-11T06:43:20Z</dcterms:modified>
</cp:coreProperties>
</file>